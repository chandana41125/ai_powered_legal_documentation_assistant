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86" r:id="rId3"/>
    <p:sldId id="257" r:id="rId4"/>
    <p:sldId id="285" r:id="rId5"/>
    <p:sldId id="258" r:id="rId6"/>
    <p:sldId id="272" r:id="rId7"/>
    <p:sldId id="273" r:id="rId8"/>
    <p:sldId id="274" r:id="rId9"/>
    <p:sldId id="275" r:id="rId10"/>
    <p:sldId id="276" r:id="rId11"/>
    <p:sldId id="259" r:id="rId12"/>
    <p:sldId id="277" r:id="rId13"/>
    <p:sldId id="260" r:id="rId14"/>
    <p:sldId id="268" r:id="rId15"/>
    <p:sldId id="271" r:id="rId16"/>
    <p:sldId id="278" r:id="rId17"/>
    <p:sldId id="279" r:id="rId18"/>
    <p:sldId id="280" r:id="rId19"/>
    <p:sldId id="262" r:id="rId20"/>
    <p:sldId id="264" r:id="rId21"/>
    <p:sldId id="290" r:id="rId22"/>
    <p:sldId id="287" r:id="rId23"/>
    <p:sldId id="288" r:id="rId24"/>
    <p:sldId id="289" r:id="rId25"/>
    <p:sldId id="266" r:id="rId26"/>
    <p:sldId id="267" r:id="rId27"/>
    <p:sldId id="269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2C6101E-0B2D-4829-A2E5-BE406BBB8C77}">
          <p14:sldIdLst>
            <p14:sldId id="256"/>
            <p14:sldId id="286"/>
          </p14:sldIdLst>
        </p14:section>
        <p14:section name="Untitled Section" id="{C4BC9D32-760C-40EC-B275-DF6154367BA4}">
          <p14:sldIdLst>
            <p14:sldId id="257"/>
            <p14:sldId id="285"/>
            <p14:sldId id="258"/>
            <p14:sldId id="272"/>
            <p14:sldId id="273"/>
            <p14:sldId id="274"/>
            <p14:sldId id="275"/>
            <p14:sldId id="276"/>
            <p14:sldId id="259"/>
            <p14:sldId id="277"/>
            <p14:sldId id="260"/>
            <p14:sldId id="268"/>
            <p14:sldId id="271"/>
            <p14:sldId id="278"/>
            <p14:sldId id="279"/>
            <p14:sldId id="280"/>
            <p14:sldId id="262"/>
            <p14:sldId id="264"/>
            <p14:sldId id="290"/>
            <p14:sldId id="287"/>
            <p14:sldId id="288"/>
            <p14:sldId id="289"/>
            <p14:sldId id="266"/>
            <p14:sldId id="267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7976BA-ED6D-4208-91A0-834477E2A286}" v="139" dt="2025-04-21T01:36:20.4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9639" autoAdjust="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FFD689-D4E8-4C11-8322-5B413F4EE57C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53B9AB-C262-4F7C-ADEB-7C052786D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72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D017-D871-467A-8FBB-FBBCAF1DA921}" type="datetime1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00808-2795-4AD7-910F-FE33AA07C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8158666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EF41C-3BC7-47B0-8550-CADB3711092A}" type="datetime1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00808-2795-4AD7-910F-FE33AA07C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223472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6FD3A-50AC-4CCE-990A-C0B93E26309A}" type="datetime1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00808-2795-4AD7-910F-FE33AA07C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703590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89119-42B4-4B81-B479-89A2525EE73C}" type="datetime1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00808-2795-4AD7-910F-FE33AA07C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983344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DD123-4E72-40AC-BA4F-4CA4285E37C5}" type="datetime1">
              <a:rPr lang="en-IN" smtClean="0"/>
              <a:t>25-09-2025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00808-2795-4AD7-910F-FE33AA07C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4077312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3789B-8F7C-412F-845A-1EB0B0C03864}" type="datetime1">
              <a:rPr lang="en-IN" smtClean="0"/>
              <a:t>25-09-2025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00808-2795-4AD7-910F-FE33AA07C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1495207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36DF-9A4B-47C0-9870-C2733A0C31C7}" type="datetime1">
              <a:rPr lang="en-IN" smtClean="0"/>
              <a:t>25-09-2025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00808-2795-4AD7-910F-FE33AA07C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105254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422C6-7EDB-4B37-9B85-FDF74D6000D5}" type="datetime1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00808-2795-4AD7-910F-FE33AA07C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456475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74C63-53D7-4FB6-86C6-EC0D154CF558}" type="datetime1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00808-2795-4AD7-910F-FE33AA07C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831071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C6892-F525-4121-B995-3F71B13067E5}" type="datetime1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00808-2795-4AD7-910F-FE33AA07C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950298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B361B-D4F0-4E30-A5A9-EA4CDDF55492}" type="datetime1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00808-2795-4AD7-910F-FE33AA07C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559164"/>
      </p:ext>
    </p:extLst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80C89-1C3C-41B1-B8EC-15252BA804CC}" type="datetime1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00808-2795-4AD7-910F-FE33AA07CB5C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5801436"/>
      </p:ext>
    </p:extLst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E7525-6B7B-4E2A-BA81-5A682C5C6FBA}" type="datetime1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00808-2795-4AD7-910F-FE33AA07C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99852"/>
      </p:ext>
    </p:extLst>
  </p:cSld>
  <p:clrMapOvr>
    <a:masterClrMapping/>
  </p:clrMapOvr>
  <p:transition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79B4-D238-4809-9FA9-024F862D74ED}" type="datetime1">
              <a:rPr lang="en-IN" smtClean="0"/>
              <a:t>25-09-2025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00808-2795-4AD7-910F-FE33AA07C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162789"/>
      </p:ext>
    </p:extLst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E536F-E2B2-490E-901E-8DAC8C25EE9D}" type="datetime1">
              <a:rPr lang="en-IN" smtClean="0"/>
              <a:t>25-09-2025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00808-2795-4AD7-910F-FE33AA07C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537020"/>
      </p:ext>
    </p:extLst>
  </p:cSld>
  <p:clrMapOvr>
    <a:masterClrMapping/>
  </p:clrMapOvr>
  <p:transition spd="slow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D7FAC-6602-4723-8B8C-05473EB534C6}" type="datetime1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00808-2795-4AD7-910F-FE33AA07C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51683"/>
      </p:ext>
    </p:extLst>
  </p:cSld>
  <p:clrMapOvr>
    <a:masterClrMapping/>
  </p:clrMapOvr>
  <p:transition spd="slow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19433-675B-434E-BF4A-F234E521E44D}" type="datetime1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00808-2795-4AD7-910F-FE33AA07C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978414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F7D38AC-B3BE-4E42-9338-24D892005EB7}" type="datetime1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8200808-2795-4AD7-910F-FE33AA07C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128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ransition spd="slow">
    <p:fade/>
  </p:transition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4.11370?utm_source=chatgpt.com" TargetMode="External"/><Relationship Id="rId2" Type="http://schemas.openxmlformats.org/officeDocument/2006/relationships/hyperlink" Target="https://arxiv.org/abs/2304.11370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6.16092" TargetMode="External"/><Relationship Id="rId2" Type="http://schemas.openxmlformats.org/officeDocument/2006/relationships/hyperlink" Target="https://arxiv.org/abs/2304.11370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C2EDA397-0182-33D8-B368-DF069F097E9C}"/>
              </a:ext>
            </a:extLst>
          </p:cNvPr>
          <p:cNvSpPr txBox="1"/>
          <p:nvPr/>
        </p:nvSpPr>
        <p:spPr>
          <a:xfrm>
            <a:off x="2870437" y="269895"/>
            <a:ext cx="63104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VISVESVARAYA TECHNOLOGICAL UNIVERSITY</a:t>
            </a:r>
            <a:endParaRPr lang="en-US" sz="2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  “Jnana Sangama”, Belagavi, Karnataka-590018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A2E19C-9992-B22E-5CB7-3D122ABEFCD5}"/>
              </a:ext>
            </a:extLst>
          </p:cNvPr>
          <p:cNvSpPr txBox="1"/>
          <p:nvPr/>
        </p:nvSpPr>
        <p:spPr>
          <a:xfrm>
            <a:off x="2873716" y="1026363"/>
            <a:ext cx="59827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solidFill>
                  <a:srgbClr val="002060"/>
                </a:solidFill>
              </a:rPr>
              <a:t> </a:t>
            </a:r>
            <a:r>
              <a:rPr lang="en-IN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 R Pete Krishna Government Engineering College,</a:t>
            </a:r>
            <a:endParaRPr lang="en-US" sz="2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IN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               K R Pete-571426, 2024-2025</a:t>
            </a:r>
            <a:endParaRPr lang="en-US" sz="2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DB612F0F-F52D-C7BC-2D45-F01F21573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080" y="1810945"/>
            <a:ext cx="1524000" cy="914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4642D92-8306-CF95-B480-5D0AC83E629E}"/>
              </a:ext>
            </a:extLst>
          </p:cNvPr>
          <p:cNvSpPr txBox="1"/>
          <p:nvPr/>
        </p:nvSpPr>
        <p:spPr>
          <a:xfrm>
            <a:off x="3061075" y="2735602"/>
            <a:ext cx="57953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/>
              <a:t> 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Department of Computer Science and Engineering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6" name="Picture 3">
            <a:extLst>
              <a:ext uri="{FF2B5EF4-FFF2-40B4-BE49-F238E27FC236}">
                <a16:creationId xmlns:a16="http://schemas.microsoft.com/office/drawing/2014/main" id="{EAA5D057-C185-E7F1-2DFE-E8FC741433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400" y="309956"/>
            <a:ext cx="1551220" cy="1335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0A6106D-3241-D67F-F3C5-C7A9D729F3C1}"/>
              </a:ext>
            </a:extLst>
          </p:cNvPr>
          <p:cNvSpPr txBox="1"/>
          <p:nvPr/>
        </p:nvSpPr>
        <p:spPr>
          <a:xfrm>
            <a:off x="3451214" y="3213973"/>
            <a:ext cx="50150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PROJECT PHASE-2 PRESENTATION ON</a:t>
            </a:r>
          </a:p>
          <a:p>
            <a:pPr algn="ctr"/>
            <a:endParaRPr lang="en-US" sz="2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2EBFA1-E71C-FDE2-1509-0DA35B869B93}"/>
              </a:ext>
            </a:extLst>
          </p:cNvPr>
          <p:cNvSpPr txBox="1"/>
          <p:nvPr/>
        </p:nvSpPr>
        <p:spPr>
          <a:xfrm>
            <a:off x="673101" y="4731860"/>
            <a:ext cx="5486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UNDER THE GUIDANCE OF</a:t>
            </a:r>
          </a:p>
          <a:p>
            <a:pPr algn="ctr"/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DR . HAREESH. K</a:t>
            </a:r>
          </a:p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PROFESSOR</a:t>
            </a:r>
          </a:p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DEPARTMENT OF COMPUTER SCIENCE    </a:t>
            </a:r>
          </a:p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  &amp; ENGINEERING 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55C809-90D8-C883-A840-A189FC46CCE0}"/>
              </a:ext>
            </a:extLst>
          </p:cNvPr>
          <p:cNvSpPr txBox="1"/>
          <p:nvPr/>
        </p:nvSpPr>
        <p:spPr>
          <a:xfrm>
            <a:off x="6671325" y="4713259"/>
            <a:ext cx="3846887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          </a:t>
            </a: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PRESENTING TEAM(B6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ctr"/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CHANDANA S                     4GK22CS010</a:t>
            </a:r>
          </a:p>
          <a:p>
            <a:pPr algn="ctr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BHAGYALAKSHMI D       4GK22CS005</a:t>
            </a:r>
          </a:p>
          <a:p>
            <a:pPr algn="ctr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K S PAVANA                         4GK22CS021</a:t>
            </a:r>
          </a:p>
          <a:p>
            <a:pPr algn="ctr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T M NIKHITHA                   4GK22CS049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18004F-C117-74EA-1FDD-04E96B717FAC}"/>
              </a:ext>
            </a:extLst>
          </p:cNvPr>
          <p:cNvSpPr txBox="1"/>
          <p:nvPr/>
        </p:nvSpPr>
        <p:spPr>
          <a:xfrm>
            <a:off x="1057971" y="4023371"/>
            <a:ext cx="8699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                 “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AI-Powered Legal Documentation Assistant</a:t>
            </a:r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”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F471CE-B1EF-37BE-F102-1A3FE0A2AF3A}"/>
              </a:ext>
            </a:extLst>
          </p:cNvPr>
          <p:cNvSpPr txBox="1"/>
          <p:nvPr/>
        </p:nvSpPr>
        <p:spPr>
          <a:xfrm>
            <a:off x="4493133" y="3641764"/>
            <a:ext cx="2931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SUBJECT CODE : BCS786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777393" y="6492875"/>
            <a:ext cx="764215" cy="365125"/>
          </a:xfrm>
        </p:spPr>
        <p:txBody>
          <a:bodyPr/>
          <a:lstStyle/>
          <a:p>
            <a:fld id="{E8200808-2795-4AD7-910F-FE33AA07CB5C}" type="slidenum">
              <a:rPr lang="en-IN" sz="2400" smtClean="0"/>
              <a:t>1</a:t>
            </a:fld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31195337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7757" y="154691"/>
            <a:ext cx="10364451" cy="1596177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00521" y="1532205"/>
            <a:ext cx="10363826" cy="3424107"/>
          </a:xfrm>
        </p:spPr>
        <p:txBody>
          <a:bodyPr>
            <a:noAutofit/>
          </a:bodyPr>
          <a:lstStyle/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cap="none" dirty="0" err="1">
                <a:latin typeface="Times New Roman" pitchFamily="18" charset="0"/>
                <a:cs typeface="Times New Roman" pitchFamily="18" charset="0"/>
              </a:rPr>
              <a:t>legalquest</a:t>
            </a: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 app is an </a:t>
            </a:r>
            <a:r>
              <a:rPr lang="en-US" sz="2400" b="1" cap="none" dirty="0" err="1">
                <a:latin typeface="Times New Roman" pitchFamily="18" charset="0"/>
                <a:cs typeface="Times New Roman" pitchFamily="18" charset="0"/>
              </a:rPr>
              <a:t>ai</a:t>
            </a:r>
            <a:r>
              <a:rPr lang="en-US" sz="2400" b="1" cap="none" dirty="0">
                <a:latin typeface="Times New Roman" pitchFamily="18" charset="0"/>
                <a:cs typeface="Times New Roman" pitchFamily="18" charset="0"/>
              </a:rPr>
              <a:t>-powered legal document assistant</a:t>
            </a: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cap="none" dirty="0" err="1">
                <a:latin typeface="Times New Roman" pitchFamily="18" charset="0"/>
                <a:cs typeface="Times New Roman" pitchFamily="18" charset="0"/>
              </a:rPr>
              <a:t>utilising</a:t>
            </a: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cap="none" dirty="0">
                <a:latin typeface="Times New Roman" pitchFamily="18" charset="0"/>
                <a:cs typeface="Times New Roman" pitchFamily="18" charset="0"/>
              </a:rPr>
              <a:t>OCR</a:t>
            </a: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 and the </a:t>
            </a:r>
            <a:r>
              <a:rPr lang="en-US" sz="2400" b="1" cap="none" dirty="0">
                <a:latin typeface="Times New Roman" pitchFamily="18" charset="0"/>
                <a:cs typeface="Times New Roman" pitchFamily="18" charset="0"/>
              </a:rPr>
              <a:t>Open AI</a:t>
            </a: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 for text extraction and </a:t>
            </a:r>
            <a:r>
              <a:rPr lang="en-US" sz="2400" b="1" cap="none" dirty="0">
                <a:latin typeface="Times New Roman" pitchFamily="18" charset="0"/>
                <a:cs typeface="Times New Roman" pitchFamily="18" charset="0"/>
              </a:rPr>
              <a:t>summarization</a:t>
            </a: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. Built in flutter, it provides concise legal document summaries and connects users with legal professionals, aiming for more </a:t>
            </a:r>
            <a:r>
              <a:rPr lang="en-US" sz="2400" b="1" cap="none" dirty="0">
                <a:latin typeface="Times New Roman" pitchFamily="18" charset="0"/>
                <a:cs typeface="Times New Roman" pitchFamily="18" charset="0"/>
              </a:rPr>
              <a:t>accessible, efficient, and affordable</a:t>
            </a: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 legal processing. Broader AI and ML applications are poised to </a:t>
            </a:r>
            <a:r>
              <a:rPr lang="en-US" sz="2400" b="1" cap="none" dirty="0">
                <a:latin typeface="Times New Roman" pitchFamily="18" charset="0"/>
                <a:cs typeface="Times New Roman" pitchFamily="18" charset="0"/>
              </a:rPr>
              <a:t>radically alter India's legal system</a:t>
            </a: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, addressing </a:t>
            </a:r>
            <a:r>
              <a:rPr lang="en-US" sz="2400" b="1" cap="none" dirty="0">
                <a:latin typeface="Times New Roman" pitchFamily="18" charset="0"/>
                <a:cs typeface="Times New Roman" pitchFamily="18" charset="0"/>
              </a:rPr>
              <a:t>case backlogs and inefficiency</a:t>
            </a: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 through tools for legal research, document analysis, and contract review, boosting efficiency and reducing costs.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00808-2795-4AD7-910F-FE33AA07CB5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216065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441766"/>
              </p:ext>
            </p:extLst>
          </p:nvPr>
        </p:nvGraphicFramePr>
        <p:xfrm>
          <a:off x="702366" y="702366"/>
          <a:ext cx="11145077" cy="654127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13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6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55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8139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itchFamily="18" charset="0"/>
                          <a:cs typeface="Times New Roman" pitchFamily="18" charset="0"/>
                        </a:rPr>
                        <a:t>SL.NO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TABLE OF 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SLIDE.NO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8139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B05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ABSTRACT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45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Poppins Medium Bold"/>
                          <a:cs typeface="Times New Roman" panose="02020603050405020304" pitchFamily="18" charset="0"/>
                          <a:sym typeface="Poppins Medium Bold"/>
                        </a:rPr>
                        <a:t>INTRODUCTION</a:t>
                      </a:r>
                      <a:br>
                        <a:rPr lang="en-US" sz="2000" b="1" dirty="0">
                          <a:solidFill>
                            <a:srgbClr val="00B050"/>
                          </a:solidFill>
                          <a:latin typeface="Poppins Medium Bold"/>
                          <a:ea typeface="Poppins Medium Bold"/>
                          <a:cs typeface="Poppins Medium Bold"/>
                          <a:sym typeface="Poppins Medium Bold"/>
                        </a:rPr>
                      </a:br>
                      <a:endParaRPr lang="en-US" sz="2000" dirty="0">
                        <a:solidFill>
                          <a:srgbClr val="00B05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321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B05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OVERVIEW</a:t>
                      </a:r>
                      <a:endParaRPr lang="en-US" sz="2000" dirty="0">
                        <a:solidFill>
                          <a:srgbClr val="00B05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5-6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2738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B05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APPLICATIONS &amp; BENCHMARK DATASETS</a:t>
                      </a:r>
                      <a:br>
                        <a:rPr lang="en-US" sz="2000" b="1" dirty="0">
                          <a:solidFill>
                            <a:srgbClr val="00B05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</a:br>
                      <a:endParaRPr lang="en-US" sz="2000" dirty="0">
                        <a:solidFill>
                          <a:srgbClr val="00B05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339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B05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TECHNOLOGY USED</a:t>
                      </a:r>
                      <a:endParaRPr lang="en-US" sz="2000" dirty="0">
                        <a:solidFill>
                          <a:srgbClr val="00B05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6591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B05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EXISTING SYSTEMS &amp; THEIR LIMITATIONS</a:t>
                      </a:r>
                      <a:endParaRPr lang="en-US" sz="2000" dirty="0">
                        <a:solidFill>
                          <a:srgbClr val="00B05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82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B05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PROBLEM  STATEMENT</a:t>
                      </a:r>
                      <a:br>
                        <a:rPr lang="en-US" sz="2000" b="1" dirty="0">
                          <a:solidFill>
                            <a:srgbClr val="00B05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</a:br>
                      <a:endParaRPr lang="en-US" sz="2000" dirty="0">
                        <a:solidFill>
                          <a:srgbClr val="00B05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358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B05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OBJECTIVES </a:t>
                      </a:r>
                      <a:endParaRPr lang="en-US" sz="2000" dirty="0">
                        <a:solidFill>
                          <a:srgbClr val="00B05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732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B05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LITERATURE REVIEW</a:t>
                      </a:r>
                      <a:br>
                        <a:rPr lang="en-US" sz="2000" b="1" dirty="0">
                          <a:solidFill>
                            <a:srgbClr val="00B05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</a:br>
                      <a:endParaRPr lang="en-US" sz="2000" dirty="0">
                        <a:solidFill>
                          <a:srgbClr val="00B05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12-13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25176" y="6532631"/>
            <a:ext cx="764215" cy="365125"/>
          </a:xfrm>
        </p:spPr>
        <p:txBody>
          <a:bodyPr/>
          <a:lstStyle/>
          <a:p>
            <a:pPr algn="ctr"/>
            <a:fld id="{E8200808-2795-4AD7-910F-FE33AA07CB5C}" type="slidenum">
              <a:rPr lang="en-IN" sz="2000" smtClean="0"/>
              <a:pPr algn="ctr"/>
              <a:t>3</a:t>
            </a:fld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060380065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729745"/>
              </p:ext>
            </p:extLst>
          </p:nvPr>
        </p:nvGraphicFramePr>
        <p:xfrm>
          <a:off x="728870" y="350475"/>
          <a:ext cx="11105322" cy="251892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83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9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2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96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SL/NO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TABLE OF 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PAGE 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42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eaLnBrk="1" latinLnBrk="0" hangingPunct="1"/>
                      <a:r>
                        <a:rPr lang="en-US" sz="2000" b="1" kern="1200" dirty="0"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EXISTING WORK 1</a:t>
                      </a:r>
                      <a:endParaRPr lang="en-US" sz="2000" dirty="0">
                        <a:solidFill>
                          <a:srgbClr val="00B05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1518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METHODOLOGY</a:t>
                      </a:r>
                      <a:r>
                        <a:rPr lang="en-US" sz="2000" b="1" kern="1200" baseline="0" dirty="0"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USED </a:t>
                      </a:r>
                      <a:endParaRPr lang="en-US" sz="2000" dirty="0">
                        <a:solidFill>
                          <a:srgbClr val="00B05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2000" dirty="0">
                        <a:solidFill>
                          <a:srgbClr val="00B05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17-18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42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CONCLUSION</a:t>
                      </a:r>
                      <a:endParaRPr lang="en-US" sz="2000" dirty="0">
                        <a:solidFill>
                          <a:srgbClr val="00B05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42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Poppins Medium Bold"/>
                          <a:cs typeface="Times New Roman" pitchFamily="18" charset="0"/>
                          <a:sym typeface="Poppins Medium Bold"/>
                        </a:rPr>
                        <a:t>REFERENCES</a:t>
                      </a:r>
                      <a:endParaRPr lang="en-US" sz="2000" dirty="0">
                        <a:solidFill>
                          <a:srgbClr val="00B05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5504689" y="6492875"/>
            <a:ext cx="764215" cy="365125"/>
          </a:xfrm>
        </p:spPr>
        <p:txBody>
          <a:bodyPr/>
          <a:lstStyle/>
          <a:p>
            <a:pPr algn="ctr"/>
            <a:fld id="{E8200808-2795-4AD7-910F-FE33AA07CB5C}" type="slidenum">
              <a:rPr lang="en-IN" sz="2000" smtClean="0"/>
              <a:pPr algn="ctr"/>
              <a:t>4</a:t>
            </a:fld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48947630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9CDAB-2209-59C8-6C21-994FE8221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975" y="745517"/>
            <a:ext cx="10364451" cy="159617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Poppins Medium Bold"/>
                <a:cs typeface="Times New Roman" panose="02020603050405020304" pitchFamily="18" charset="0"/>
                <a:sym typeface="Poppins Medium Bold"/>
              </a:rPr>
              <a:t>INTRODUCTION</a:t>
            </a:r>
            <a:br>
              <a:rPr lang="en-US" sz="4000" b="1" dirty="0">
                <a:solidFill>
                  <a:srgbClr val="00B050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</a:br>
            <a:endParaRPr lang="en-IN" sz="4000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E81CF-B5F8-78BE-0FA7-4182DA18B3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2474" y="1808292"/>
            <a:ext cx="10363826" cy="342410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US" sz="2400" cap="none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 The inherent challenges of traditional legal document processing.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 Systemic issues within legal systems and the specific context of </a:t>
            </a:r>
            <a:r>
              <a:rPr lang="en-US" sz="2400" b="1" cap="none" dirty="0">
                <a:latin typeface="Times New Roman" pitchFamily="18" charset="0"/>
                <a:cs typeface="Times New Roman" pitchFamily="18" charset="0"/>
              </a:rPr>
              <a:t>India</a:t>
            </a: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 The transformative potential of </a:t>
            </a:r>
            <a:r>
              <a:rPr lang="en-US" sz="2400" b="1" cap="none" dirty="0">
                <a:latin typeface="Times New Roman" pitchFamily="18" charset="0"/>
                <a:cs typeface="Times New Roman" pitchFamily="18" charset="0"/>
              </a:rPr>
              <a:t>AI</a:t>
            </a: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cap="none" dirty="0">
                <a:latin typeface="Times New Roman" pitchFamily="18" charset="0"/>
                <a:cs typeface="Times New Roman" pitchFamily="18" charset="0"/>
              </a:rPr>
              <a:t>ML</a:t>
            </a: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400" b="1" cap="none" dirty="0">
                <a:latin typeface="Times New Roman" pitchFamily="18" charset="0"/>
                <a:cs typeface="Times New Roman" pitchFamily="18" charset="0"/>
              </a:rPr>
              <a:t>OCR</a:t>
            </a: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 technologies.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 Specific </a:t>
            </a:r>
            <a:r>
              <a:rPr lang="en-US" sz="2400" b="1" cap="none" dirty="0">
                <a:latin typeface="Times New Roman" pitchFamily="18" charset="0"/>
                <a:cs typeface="Times New Roman" pitchFamily="18" charset="0"/>
              </a:rPr>
              <a:t>AI/ML</a:t>
            </a: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 applications and enabling technologies in legal practice.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sz="2400" b="1" cap="none" dirty="0">
                <a:latin typeface="Times New Roman" pitchFamily="18" charset="0"/>
                <a:cs typeface="Times New Roman" pitchFamily="18" charset="0"/>
              </a:rPr>
              <a:t>legalquest</a:t>
            </a: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 app as a concrete AI application.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US" sz="2400" cap="none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87855" y="6492875"/>
            <a:ext cx="764215" cy="365125"/>
          </a:xfrm>
        </p:spPr>
        <p:txBody>
          <a:bodyPr/>
          <a:lstStyle/>
          <a:p>
            <a:pPr algn="ctr"/>
            <a:fld id="{E8200808-2795-4AD7-910F-FE33AA07CB5C}" type="slidenum">
              <a:rPr lang="en-IN" sz="2000" smtClean="0"/>
              <a:pPr algn="ctr"/>
              <a:t>5</a:t>
            </a:fld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47786841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312" y="-171450"/>
            <a:ext cx="10364451" cy="159617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0" y="1052642"/>
            <a:ext cx="12192000" cy="55338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cap="none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400" b="1" cap="none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DEFINITION:</a:t>
            </a:r>
          </a:p>
          <a:p>
            <a:pPr marL="0" indent="0">
              <a:buNone/>
            </a:pP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   An </a:t>
            </a:r>
            <a:r>
              <a:rPr lang="en-US" sz="2400" b="1" cap="none" dirty="0">
                <a:latin typeface="Times New Roman" pitchFamily="18" charset="0"/>
                <a:cs typeface="Times New Roman" pitchFamily="18" charset="0"/>
              </a:rPr>
              <a:t>ai-powered legal assistant</a:t>
            </a: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 is a digital platform that uses artificial intelligence (AI), natural language processing (NLP), and optical character recognition (OCR) to </a:t>
            </a:r>
            <a:r>
              <a:rPr lang="en-US" sz="2400" b="1" cap="none" dirty="0">
                <a:latin typeface="Times New Roman" pitchFamily="18" charset="0"/>
                <a:cs typeface="Times New Roman" pitchFamily="18" charset="0"/>
              </a:rPr>
              <a:t>analyze, summarize, and manage legal documents</a:t>
            </a: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, while also connecting users to legal professionals for consultation.</a:t>
            </a:r>
          </a:p>
          <a:p>
            <a:pPr marL="0" indent="0">
              <a:buNone/>
            </a:pPr>
            <a:r>
              <a:rPr lang="en-US" sz="2400" b="1" cap="none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     PRINCIPLES:</a:t>
            </a:r>
          </a:p>
          <a:p>
            <a:pPr>
              <a:buFont typeface="Wingdings" pitchFamily="2" charset="2"/>
              <a:buChar char="Ø"/>
            </a:pPr>
            <a:r>
              <a:rPr lang="en-US" sz="2400" b="1" cap="none" dirty="0">
                <a:latin typeface="Times New Roman" pitchFamily="18" charset="0"/>
                <a:cs typeface="Times New Roman" pitchFamily="18" charset="0"/>
              </a:rPr>
              <a:t>Accuracy &amp; transparency</a:t>
            </a: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 – deliver clear and reliable summaries of legal content.</a:t>
            </a:r>
          </a:p>
          <a:p>
            <a:pPr>
              <a:buFont typeface="Wingdings" pitchFamily="2" charset="2"/>
              <a:buChar char="Ø"/>
            </a:pPr>
            <a:r>
              <a:rPr lang="en-US" sz="2400" b="1" cap="none" dirty="0">
                <a:latin typeface="Times New Roman" pitchFamily="18" charset="0"/>
                <a:cs typeface="Times New Roman" pitchFamily="18" charset="0"/>
              </a:rPr>
              <a:t>Accessibility</a:t>
            </a: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 – make legal services available to everyone, regardless of background.</a:t>
            </a:r>
          </a:p>
          <a:p>
            <a:pPr>
              <a:buFont typeface="Wingdings" pitchFamily="2" charset="2"/>
              <a:buChar char="Ø"/>
            </a:pPr>
            <a:r>
              <a:rPr lang="en-US" sz="2400" b="1" cap="none" dirty="0">
                <a:latin typeface="Times New Roman" pitchFamily="18" charset="0"/>
                <a:cs typeface="Times New Roman" pitchFamily="18" charset="0"/>
              </a:rPr>
              <a:t>Efficiency</a:t>
            </a: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 – reduce time, cost, and human errors in legal document handling.</a:t>
            </a:r>
          </a:p>
          <a:p>
            <a:pPr>
              <a:buFont typeface="Wingdings" pitchFamily="2" charset="2"/>
              <a:buChar char="Ø"/>
            </a:pPr>
            <a:r>
              <a:rPr lang="en-US" sz="2400" b="1" cap="none" dirty="0">
                <a:latin typeface="Times New Roman" pitchFamily="18" charset="0"/>
                <a:cs typeface="Times New Roman" pitchFamily="18" charset="0"/>
              </a:rPr>
              <a:t>Confidentiality</a:t>
            </a: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 – ensure secure handling of sensitive legal data.</a:t>
            </a:r>
          </a:p>
          <a:p>
            <a:pPr>
              <a:buFont typeface="Wingdings" pitchFamily="2" charset="2"/>
              <a:buChar char="Ø"/>
            </a:pPr>
            <a:r>
              <a:rPr lang="en-US" sz="2400" b="1" cap="none" dirty="0">
                <a:latin typeface="Times New Roman" pitchFamily="18" charset="0"/>
                <a:cs typeface="Times New Roman" pitchFamily="18" charset="0"/>
              </a:rPr>
              <a:t>User-centric design</a:t>
            </a: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 – simplify complex legal procedures through intuitive interfaces.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34846" y="6492875"/>
            <a:ext cx="764215" cy="365125"/>
          </a:xfrm>
        </p:spPr>
        <p:txBody>
          <a:bodyPr/>
          <a:lstStyle/>
          <a:p>
            <a:pPr algn="ctr"/>
            <a:fld id="{E8200808-2795-4AD7-910F-FE33AA07CB5C}" type="slidenum">
              <a:rPr lang="en-IN" sz="2000" smtClean="0"/>
              <a:pPr algn="ctr"/>
              <a:t>6</a:t>
            </a:fld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046983897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5251" y="1118579"/>
            <a:ext cx="10364451" cy="1596177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   slogans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ü"/>
            </a:pPr>
            <a:endParaRPr lang="en-US" b="1" dirty="0"/>
          </a:p>
          <a:p>
            <a:pPr algn="just">
              <a:buFont typeface="Wingdings" pitchFamily="2" charset="2"/>
              <a:buChar char="ü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🧠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"Smarter Law, Simpler Life."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⚖   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"Your Legal Guide in a Click."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📄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"Understand Legal Documents—Fast, Clear,                      Smart."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🤝   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"Justice for All, Powered by AI."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ü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266150" y="6386858"/>
            <a:ext cx="764215" cy="365125"/>
          </a:xfrm>
        </p:spPr>
        <p:txBody>
          <a:bodyPr/>
          <a:lstStyle/>
          <a:p>
            <a:pPr algn="ctr"/>
            <a:fld id="{E8200808-2795-4AD7-910F-FE33AA07CB5C}" type="slidenum">
              <a:rPr lang="en-IN" sz="2000" smtClean="0"/>
              <a:pPr algn="ctr"/>
              <a:t>7</a:t>
            </a:fld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428031109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5494" y="97113"/>
            <a:ext cx="10364451" cy="159617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Applications &amp; Benchmark Datasets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0" y="1152654"/>
            <a:ext cx="12236105" cy="57053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Applications</a:t>
            </a:r>
            <a:endParaRPr lang="en-US" sz="2400" b="1" cap="none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400" b="1" cap="none" dirty="0">
                <a:latin typeface="Times New Roman" pitchFamily="18" charset="0"/>
                <a:cs typeface="Times New Roman" pitchFamily="18" charset="0"/>
              </a:rPr>
              <a:t>Legal document summarization</a:t>
            </a:r>
            <a:endParaRPr lang="en-US" sz="2400" cap="none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          Quickly condense lengthy contracts, agreements, and judgments into readable summaries.</a:t>
            </a: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400" b="1" cap="none" dirty="0">
                <a:latin typeface="Times New Roman" pitchFamily="18" charset="0"/>
                <a:cs typeface="Times New Roman" pitchFamily="18" charset="0"/>
              </a:rPr>
              <a:t>Advocate matching &amp; scheduling</a:t>
            </a:r>
            <a:endParaRPr lang="en-US" sz="2400" cap="none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           Match users with qualified legal professionals based on expertise, location, and availability.</a:t>
            </a: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400" b="1" cap="none" dirty="0">
                <a:latin typeface="Times New Roman" pitchFamily="18" charset="0"/>
                <a:cs typeface="Times New Roman" pitchFamily="18" charset="0"/>
              </a:rPr>
              <a:t>Irregularity detection in contracts</a:t>
            </a:r>
            <a:endParaRPr lang="en-US" sz="2400" cap="none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        Identify ambiguous clauses, missing elements, and potential legal risks using NLP and NER.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Benchmark Datasets</a:t>
            </a:r>
            <a:endParaRPr lang="en-US" sz="2400" b="1" cap="none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marL="571500" indent="-571500">
              <a:buFont typeface="+mj-lt"/>
              <a:buAutoNum type="romanLcPeriod"/>
            </a:pP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JEC-QA dataset (china)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CUAD (contract understanding atticus dataset)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Legal case reports (indian kanoon / SCC online)</a:t>
            </a:r>
          </a:p>
          <a:p>
            <a:pPr marL="0" indent="0">
              <a:buNone/>
            </a:pPr>
            <a:endParaRPr lang="en-US" sz="2400" cap="none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endParaRPr lang="en-US" sz="2400" cap="none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684133" y="6492875"/>
            <a:ext cx="764215" cy="365125"/>
          </a:xfrm>
        </p:spPr>
        <p:txBody>
          <a:bodyPr/>
          <a:lstStyle/>
          <a:p>
            <a:pPr algn="ctr"/>
            <a:fld id="{E8200808-2795-4AD7-910F-FE33AA07CB5C}" type="slidenum">
              <a:rPr lang="en-IN" sz="2000" smtClean="0"/>
              <a:pPr algn="ctr"/>
              <a:t>8</a:t>
            </a:fld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9013190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038" y="0"/>
            <a:ext cx="10364451" cy="159617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Technology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1266955"/>
            <a:ext cx="11677649" cy="534815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cap="none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        </a:t>
            </a:r>
          </a:p>
          <a:p>
            <a:pPr>
              <a:buFont typeface="Wingdings" pitchFamily="2" charset="2"/>
              <a:buChar char="Ø"/>
            </a:pPr>
            <a:r>
              <a:rPr lang="en-US" sz="2400" b="1" cap="none" dirty="0">
                <a:latin typeface="Times New Roman" pitchFamily="18" charset="0"/>
                <a:cs typeface="Times New Roman" pitchFamily="18" charset="0"/>
              </a:rPr>
              <a:t>Manual legal processes are inefficient</a:t>
            </a:r>
            <a:endParaRPr lang="en-US" sz="2400" cap="none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   Traditional legal document handling involves extensive manual reading, clause identification, and summarization, which is time-consuming and error-prone.</a:t>
            </a:r>
          </a:p>
          <a:p>
            <a:pPr>
              <a:buFont typeface="Wingdings" pitchFamily="2" charset="2"/>
              <a:buChar char="Ø"/>
            </a:pPr>
            <a:r>
              <a:rPr lang="en-US" sz="2400" b="1" cap="none" dirty="0">
                <a:latin typeface="Times New Roman" pitchFamily="18" charset="0"/>
                <a:cs typeface="Times New Roman" pitchFamily="18" charset="0"/>
              </a:rPr>
              <a:t>Complex legal language requires advanced nlp</a:t>
            </a:r>
            <a:endParaRPr lang="en-US" sz="2400" cap="none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   Legal documents use dense, domain-specific jargon that demands deep natural language processing (</a:t>
            </a:r>
            <a:r>
              <a:rPr lang="en-US" sz="2400" b="1" cap="none" dirty="0">
                <a:latin typeface="Times New Roman" pitchFamily="18" charset="0"/>
                <a:cs typeface="Times New Roman" pitchFamily="18" charset="0"/>
              </a:rPr>
              <a:t>NLP</a:t>
            </a: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) and contextual understanding to interpret accurately.</a:t>
            </a:r>
          </a:p>
          <a:p>
            <a:pPr>
              <a:buFont typeface="Wingdings" pitchFamily="2" charset="2"/>
              <a:buChar char="Ø"/>
            </a:pPr>
            <a:r>
              <a:rPr lang="en-US" sz="2400" b="1" cap="none" dirty="0">
                <a:latin typeface="Times New Roman" pitchFamily="18" charset="0"/>
                <a:cs typeface="Times New Roman" pitchFamily="18" charset="0"/>
              </a:rPr>
              <a:t>Unstructured data needs structured intelligence</a:t>
            </a:r>
            <a:endParaRPr lang="en-US" sz="2400" cap="none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   Legal information often exists in pdfs, scans, handwritten notes, and emails—requiring </a:t>
            </a:r>
            <a:r>
              <a:rPr lang="en-US" sz="2400" b="1" cap="none" dirty="0">
                <a:latin typeface="Times New Roman" pitchFamily="18" charset="0"/>
                <a:cs typeface="Times New Roman" pitchFamily="18" charset="0"/>
              </a:rPr>
              <a:t>OCR</a:t>
            </a: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, text normalization, and entity recognition to process meaningfully.</a:t>
            </a:r>
          </a:p>
          <a:p>
            <a:pPr>
              <a:buFont typeface="Wingdings" pitchFamily="2" charset="2"/>
              <a:buChar char="Ø"/>
            </a:pPr>
            <a:endParaRPr lang="en-US" sz="2400" cap="none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067367" y="6492875"/>
            <a:ext cx="764215" cy="365125"/>
          </a:xfrm>
        </p:spPr>
        <p:txBody>
          <a:bodyPr/>
          <a:lstStyle/>
          <a:p>
            <a:pPr algn="ctr"/>
            <a:fld id="{E8200808-2795-4AD7-910F-FE33AA07CB5C}" type="slidenum">
              <a:rPr lang="en-IN" sz="2000" smtClean="0"/>
              <a:pPr algn="ctr"/>
              <a:t>9</a:t>
            </a:fld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57509282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200" y="203144"/>
            <a:ext cx="10364451" cy="1596177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Existing Systems &amp; Their Limitations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212138651"/>
              </p:ext>
            </p:extLst>
          </p:nvPr>
        </p:nvGraphicFramePr>
        <p:xfrm>
          <a:off x="257174" y="1494184"/>
          <a:ext cx="11758614" cy="480059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919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9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95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EXISTING SYSTEM</a:t>
                      </a:r>
                    </a:p>
                  </a:txBody>
                  <a:tcPr marL="81529" marR="81529" marT="40765" marB="407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KEY FEATURES</a:t>
                      </a:r>
                    </a:p>
                  </a:txBody>
                  <a:tcPr marL="81529" marR="81529" marT="40765" marB="407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81529" marR="81529" marT="40765" marB="407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099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Kira systems</a:t>
                      </a:r>
                    </a:p>
                  </a:txBody>
                  <a:tcPr marL="81529" marR="81529" marT="40765" marB="407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Contract clause extraction, due diligence</a:t>
                      </a:r>
                    </a:p>
                  </a:txBody>
                  <a:tcPr marL="81529" marR="81529" marT="40765" marB="407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No real-time OCR or Indian legal support</a:t>
                      </a:r>
                    </a:p>
                  </a:txBody>
                  <a:tcPr marL="81529" marR="81529" marT="40765" marB="407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099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Evisort</a:t>
                      </a:r>
                    </a:p>
                  </a:txBody>
                  <a:tcPr marL="81529" marR="81529" marT="40765" marB="407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Contract lifecycle management, AI insights</a:t>
                      </a:r>
                    </a:p>
                  </a:txBody>
                  <a:tcPr marL="81529" marR="81529" marT="40765" marB="407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Expensive and enterprise-focused</a:t>
                      </a:r>
                    </a:p>
                  </a:txBody>
                  <a:tcPr marL="81529" marR="81529" marT="40765" marB="407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099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Legalsifter</a:t>
                      </a:r>
                    </a:p>
                  </a:txBody>
                  <a:tcPr marL="81529" marR="81529" marT="40765" marB="407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Risk identification in contracts</a:t>
                      </a:r>
                    </a:p>
                  </a:txBody>
                  <a:tcPr marL="81529" marR="81529" marT="40765" marB="407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No multilingual support, limited customization</a:t>
                      </a:r>
                    </a:p>
                  </a:txBody>
                  <a:tcPr marL="81529" marR="81529" marT="40765" marB="407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1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ROSS intelligence</a:t>
                      </a:r>
                    </a:p>
                  </a:txBody>
                  <a:tcPr marL="81529" marR="81529" marT="40765" marB="407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AI legal research using NLP</a:t>
                      </a:r>
                    </a:p>
                  </a:txBody>
                  <a:tcPr marL="81529" marR="81529" marT="40765" marB="407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Research-focused only; no document summarization or consultation integration</a:t>
                      </a:r>
                    </a:p>
                  </a:txBody>
                  <a:tcPr marL="81529" marR="81529" marT="40765" marB="407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0099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Lex machina</a:t>
                      </a:r>
                    </a:p>
                  </a:txBody>
                  <a:tcPr marL="81529" marR="81529" marT="40765" marB="407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Litigation outcome prediction, analytics</a:t>
                      </a:r>
                    </a:p>
                  </a:txBody>
                  <a:tcPr marL="81529" marR="81529" marT="40765" marB="407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Lacks direct user interaction or summarization features</a:t>
                      </a:r>
                    </a:p>
                  </a:txBody>
                  <a:tcPr marL="81529" marR="81529" marT="40765" marB="407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10707" y="6492875"/>
            <a:ext cx="764215" cy="365125"/>
          </a:xfrm>
        </p:spPr>
        <p:txBody>
          <a:bodyPr/>
          <a:lstStyle/>
          <a:p>
            <a:pPr algn="ctr"/>
            <a:fld id="{E8200808-2795-4AD7-910F-FE33AA07CB5C}" type="slidenum">
              <a:rPr lang="en-IN" sz="2000" smtClean="0"/>
              <a:pPr algn="ctr"/>
              <a:t>10</a:t>
            </a:fld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27240876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6D2C3-3333-594D-7BE8-869B09B31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087" y="1380647"/>
            <a:ext cx="10364451" cy="159617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PROBLEM  STATEMENT</a:t>
            </a:r>
            <a:br>
              <a:rPr lang="en-US" sz="40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sz="4000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424ED-B553-C54A-C6A3-F7C4DF8F558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2976824"/>
            <a:ext cx="10363826" cy="342410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cap="none" dirty="0">
                <a:latin typeface="Times New Roman" pitchFamily="18" charset="0"/>
                <a:cs typeface="Times New Roman" pitchFamily="18" charset="0"/>
              </a:rPr>
              <a:t>Legal professionals and businesses need an AI-powered document assistant to automate contract drafting, review, and customization—reducing time, cost, and errors while ensuring compliance."</a:t>
            </a:r>
            <a:endParaRPr lang="en-IN" sz="2400" cap="none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305907" y="6492875"/>
            <a:ext cx="764215" cy="365125"/>
          </a:xfrm>
        </p:spPr>
        <p:txBody>
          <a:bodyPr/>
          <a:lstStyle/>
          <a:p>
            <a:fld id="{E8200808-2795-4AD7-910F-FE33AA07CB5C}" type="slidenum">
              <a:rPr lang="en-IN" sz="2000" smtClean="0"/>
              <a:t>11</a:t>
            </a:fld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040452847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038" y="-110145"/>
            <a:ext cx="10364451" cy="159617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Objectives 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71513" y="1195518"/>
            <a:ext cx="12515850" cy="670547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b="1" cap="none" dirty="0">
                <a:latin typeface="Times New Roman" pitchFamily="18" charset="0"/>
                <a:cs typeface="Times New Roman" pitchFamily="18" charset="0"/>
              </a:rPr>
              <a:t>Data collection</a:t>
            </a:r>
            <a:endParaRPr lang="en-US" cap="none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Gather various types of legal documents (pdfs, images, handwritten notes, contracts, etc.)</a:t>
            </a:r>
          </a:p>
          <a:p>
            <a:pPr>
              <a:buFont typeface="Wingdings" pitchFamily="2" charset="2"/>
              <a:buChar char="Ø"/>
            </a:pPr>
            <a:r>
              <a:rPr lang="en-US" b="1" cap="none" dirty="0">
                <a:latin typeface="Times New Roman" pitchFamily="18" charset="0"/>
                <a:cs typeface="Times New Roman" pitchFamily="18" charset="0"/>
              </a:rPr>
              <a:t>Text extraction using ocr</a:t>
            </a:r>
            <a:endParaRPr lang="en-US" cap="none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Use optical character recognition (OCR) to extract text from scanned or handwritten documents.</a:t>
            </a:r>
          </a:p>
          <a:p>
            <a:pPr>
              <a:buFont typeface="Wingdings" pitchFamily="2" charset="2"/>
              <a:buChar char="Ø"/>
            </a:pPr>
            <a:r>
              <a:rPr lang="en-US" b="1" cap="none" dirty="0">
                <a:latin typeface="Times New Roman" pitchFamily="18" charset="0"/>
                <a:cs typeface="Times New Roman" pitchFamily="18" charset="0"/>
              </a:rPr>
              <a:t>Preprocessing &amp; cleaning</a:t>
            </a:r>
            <a:endParaRPr lang="en-US" cap="none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Clean and normalize the extracted text for consistent formatting and accurate analysis.</a:t>
            </a:r>
          </a:p>
          <a:p>
            <a:pPr>
              <a:buFont typeface="Wingdings" pitchFamily="2" charset="2"/>
              <a:buChar char="Ø"/>
            </a:pPr>
            <a:r>
              <a:rPr lang="en-US" b="1" cap="none" dirty="0">
                <a:latin typeface="Times New Roman" pitchFamily="18" charset="0"/>
                <a:cs typeface="Times New Roman" pitchFamily="18" charset="0"/>
              </a:rPr>
              <a:t>Ai-based summarization</a:t>
            </a:r>
            <a:endParaRPr lang="en-US" cap="none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Apply NLP models (e.g., Gemini API or chatgpt) to generate concise summaries of the legal content.</a:t>
            </a:r>
          </a:p>
          <a:p>
            <a:pPr>
              <a:buFont typeface="Wingdings" pitchFamily="2" charset="2"/>
              <a:buChar char="Ø"/>
            </a:pPr>
            <a:r>
              <a:rPr lang="en-US" b="1" cap="none" dirty="0">
                <a:latin typeface="Times New Roman" pitchFamily="18" charset="0"/>
                <a:cs typeface="Times New Roman" pitchFamily="18" charset="0"/>
              </a:rPr>
              <a:t>Irregularity &amp; clause detection</a:t>
            </a:r>
            <a:endParaRPr lang="en-US" cap="none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Use named entity recognition (NER) and sentiment analysis to detect missing, ambiguous, or risky clauses.</a:t>
            </a:r>
          </a:p>
          <a:p>
            <a:pPr marL="0" indent="0">
              <a:buNone/>
            </a:pPr>
            <a:endParaRPr lang="en-US" cap="none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endParaRPr lang="en-US" cap="none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093872" y="6492875"/>
            <a:ext cx="764215" cy="365125"/>
          </a:xfrm>
        </p:spPr>
        <p:txBody>
          <a:bodyPr/>
          <a:lstStyle/>
          <a:p>
            <a:pPr algn="ctr"/>
            <a:fld id="{E8200808-2795-4AD7-910F-FE33AA07CB5C}" type="slidenum">
              <a:rPr lang="en-IN" sz="2000" smtClean="0"/>
              <a:pPr algn="ctr"/>
              <a:t>12</a:t>
            </a:fld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251602989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D62FE-E70D-F7AE-D441-0DCECDA7E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124" y="470720"/>
            <a:ext cx="10364451" cy="1219198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Literature Review</a:t>
            </a:r>
            <a:br>
              <a:rPr lang="en-US" sz="40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sz="40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000A4-E4D3-5F3F-4A92-0C997E626B3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6291" y="2214694"/>
            <a:ext cx="10363826" cy="3424107"/>
          </a:xfrm>
        </p:spPr>
        <p:txBody>
          <a:bodyPr>
            <a:noAutofit/>
          </a:bodyPr>
          <a:lstStyle/>
          <a:p>
            <a:pPr marL="0" algn="l" rtl="0" eaLnBrk="1" fontAlgn="t" latinLnBrk="0" hangingPunct="1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1600" b="0" i="0" u="none" strike="noStrike" kern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en-IN" sz="16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sz="16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906EE05-716B-B88E-3C36-4BDBB4C3A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416620"/>
              </p:ext>
            </p:extLst>
          </p:nvPr>
        </p:nvGraphicFramePr>
        <p:xfrm>
          <a:off x="1026657" y="1301084"/>
          <a:ext cx="10304366" cy="51438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939">
                  <a:extLst>
                    <a:ext uri="{9D8B030D-6E8A-4147-A177-3AD203B41FA5}">
                      <a16:colId xmlns:a16="http://schemas.microsoft.com/office/drawing/2014/main" val="3312003157"/>
                    </a:ext>
                  </a:extLst>
                </a:gridCol>
                <a:gridCol w="2208550">
                  <a:extLst>
                    <a:ext uri="{9D8B030D-6E8A-4147-A177-3AD203B41FA5}">
                      <a16:colId xmlns:a16="http://schemas.microsoft.com/office/drawing/2014/main" val="1601009533"/>
                    </a:ext>
                  </a:extLst>
                </a:gridCol>
                <a:gridCol w="2911746">
                  <a:extLst>
                    <a:ext uri="{9D8B030D-6E8A-4147-A177-3AD203B41FA5}">
                      <a16:colId xmlns:a16="http://schemas.microsoft.com/office/drawing/2014/main" val="1022847156"/>
                    </a:ext>
                  </a:extLst>
                </a:gridCol>
                <a:gridCol w="2031270">
                  <a:extLst>
                    <a:ext uri="{9D8B030D-6E8A-4147-A177-3AD203B41FA5}">
                      <a16:colId xmlns:a16="http://schemas.microsoft.com/office/drawing/2014/main" val="1994278296"/>
                    </a:ext>
                  </a:extLst>
                </a:gridCol>
                <a:gridCol w="2210861">
                  <a:extLst>
                    <a:ext uri="{9D8B030D-6E8A-4147-A177-3AD203B41FA5}">
                      <a16:colId xmlns:a16="http://schemas.microsoft.com/office/drawing/2014/main" val="2536666347"/>
                    </a:ext>
                  </a:extLst>
                </a:gridCol>
              </a:tblGrid>
              <a:tr h="992022">
                <a:tc>
                  <a:txBody>
                    <a:bodyPr/>
                    <a:lstStyle/>
                    <a:p>
                      <a:r>
                        <a:rPr lang="en-US" sz="1800" b="1" i="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 NO</a:t>
                      </a:r>
                      <a:r>
                        <a:rPr lang="en-IN" sz="1800" b="1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 </a:t>
                      </a:r>
                      <a:endParaRPr lang="en-IN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/ FOCUS </a:t>
                      </a:r>
                      <a:endParaRPr lang="en-IN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 / APPROACH USED </a:t>
                      </a:r>
                      <a:endParaRPr lang="en-IN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 FOUND</a:t>
                      </a:r>
                      <a:endParaRPr lang="en-IN" sz="1800" b="1" i="0" u="none" strike="noStrike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IN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225917"/>
                  </a:ext>
                </a:extLst>
              </a:tr>
              <a:tr h="1579887">
                <a:tc>
                  <a:txBody>
                    <a:bodyPr/>
                    <a:lstStyle/>
                    <a:p>
                      <a:pPr algn="ctr"/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b="1" i="0" kern="1200" dirty="0">
                        <a:solidFill>
                          <a:schemeClr val="dk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Kumar et al. (2023)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LegalDoc Scan / Mobile-Based OCR for Contracts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Mobile-based </a:t>
                      </a:r>
                      <a:r>
                        <a:rPr lang="en-US" sz="18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OCR system</a:t>
                      </a:r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US" sz="18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mobile optimization</a:t>
                      </a:r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US" sz="18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legal-specific NLP</a:t>
                      </a:r>
                      <a:r>
                        <a:rPr lang="en-US" sz="18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  <a:endParaRPr lang="en-US" sz="18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Faces challenges with 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handwritten text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.</a:t>
                      </a:r>
                      <a:r>
                        <a:rPr lang="en-US" sz="1800" b="0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Highlights needs for better 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non-standard document handling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.</a:t>
                      </a:r>
                      <a:endParaRPr lang="en-US" sz="18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6284413"/>
                  </a:ext>
                </a:extLst>
              </a:tr>
              <a:tr h="1285955">
                <a:tc>
                  <a:txBody>
                    <a:bodyPr/>
                    <a:lstStyle/>
                    <a:p>
                      <a:pPr algn="ctr"/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  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b="1" i="0" kern="1200" dirty="0">
                        <a:solidFill>
                          <a:schemeClr val="dk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ETH Zurich (2022)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OCR Error Analysis in Legal Docs4 / analysis of OCR errors in legal documents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OCR engines, proposed correction techniques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Particularly notes challenges with 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legal jargon and non-standard formats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.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613459"/>
                  </a:ext>
                </a:extLst>
              </a:tr>
              <a:tr h="1285955">
                <a:tc>
                  <a:txBody>
                    <a:bodyPr/>
                    <a:lstStyle/>
                    <a:p>
                      <a:pPr algn="ctr"/>
                      <a:endParaRPr lang="en-IN" sz="1800" baseline="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IN" sz="18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NUS LawTech (2021)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User Feedback on Legal AI Tools4 / surveys user experiences with legal AI tools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Legal AI tools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User 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trust remained limited due to explain ability concerns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.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056412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213142" y="6492875"/>
            <a:ext cx="764215" cy="365125"/>
          </a:xfrm>
        </p:spPr>
        <p:txBody>
          <a:bodyPr/>
          <a:lstStyle/>
          <a:p>
            <a:pPr algn="ctr"/>
            <a:fld id="{E8200808-2795-4AD7-910F-FE33AA07CB5C}" type="slidenum">
              <a:rPr lang="en-IN" sz="2000" smtClean="0"/>
              <a:pPr algn="ctr"/>
              <a:t>13</a:t>
            </a:fld>
            <a:endParaRPr lang="en-IN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634" y="1185863"/>
            <a:ext cx="10787269" cy="5267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6328602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68B9CF6-F0CE-31E4-6730-E035859EAB0D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722101843"/>
              </p:ext>
            </p:extLst>
          </p:nvPr>
        </p:nvGraphicFramePr>
        <p:xfrm>
          <a:off x="500063" y="1541053"/>
          <a:ext cx="11187113" cy="42121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81">
                  <a:extLst>
                    <a:ext uri="{9D8B030D-6E8A-4147-A177-3AD203B41FA5}">
                      <a16:colId xmlns:a16="http://schemas.microsoft.com/office/drawing/2014/main" val="1517529471"/>
                    </a:ext>
                  </a:extLst>
                </a:gridCol>
                <a:gridCol w="3880463">
                  <a:extLst>
                    <a:ext uri="{9D8B030D-6E8A-4147-A177-3AD203B41FA5}">
                      <a16:colId xmlns:a16="http://schemas.microsoft.com/office/drawing/2014/main" val="4197005858"/>
                    </a:ext>
                  </a:extLst>
                </a:gridCol>
                <a:gridCol w="2237423">
                  <a:extLst>
                    <a:ext uri="{9D8B030D-6E8A-4147-A177-3AD203B41FA5}">
                      <a16:colId xmlns:a16="http://schemas.microsoft.com/office/drawing/2014/main" val="2968105594"/>
                    </a:ext>
                  </a:extLst>
                </a:gridCol>
                <a:gridCol w="2237423">
                  <a:extLst>
                    <a:ext uri="{9D8B030D-6E8A-4147-A177-3AD203B41FA5}">
                      <a16:colId xmlns:a16="http://schemas.microsoft.com/office/drawing/2014/main" val="4163917685"/>
                    </a:ext>
                  </a:extLst>
                </a:gridCol>
                <a:gridCol w="2237423">
                  <a:extLst>
                    <a:ext uri="{9D8B030D-6E8A-4147-A177-3AD203B41FA5}">
                      <a16:colId xmlns:a16="http://schemas.microsoft.com/office/drawing/2014/main" val="190597170"/>
                    </a:ext>
                  </a:extLst>
                </a:gridCol>
              </a:tblGrid>
              <a:tr h="2200437">
                <a:tc>
                  <a:txBody>
                    <a:bodyPr/>
                    <a:lstStyle/>
                    <a:p>
                      <a:pPr algn="ctr"/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Prof. (Dr.) Devendra Singh</a:t>
                      </a:r>
                    </a:p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Prof. (Dr.) Aditya Tomer</a:t>
                      </a:r>
                    </a:p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Dr. Tarun Kumar Kaushik </a:t>
                      </a:r>
                    </a:p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Year:2024</a:t>
                      </a:r>
                      <a:endParaRPr lang="en-IN"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Year:2024</a:t>
                      </a:r>
                      <a:endParaRPr lang="en-IN"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Potential Applications of Artificial Intelligence and Machine Learning in India's Legal System</a:t>
                      </a:r>
                      <a:endParaRPr lang="en-IN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NLP- ML algorithms- Text summarization- Image processing</a:t>
                      </a:r>
                      <a:endParaRPr lang="en-IN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-Infrastructure gaps</a:t>
                      </a:r>
                    </a:p>
                    <a:p>
                      <a:pPr marL="0" indent="0" algn="ctr">
                        <a:buFontTx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-Legal language complexity</a:t>
                      </a:r>
                    </a:p>
                    <a:p>
                      <a:pPr marL="0" indent="0" algn="ctr">
                        <a:buFontTx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-Inadequate tech adoption in rural courts</a:t>
                      </a:r>
                      <a:endParaRPr lang="en-IN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616543"/>
                  </a:ext>
                </a:extLst>
              </a:tr>
              <a:tr h="1902073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Syed Hammad Khan</a:t>
                      </a:r>
                    </a:p>
                    <a:p>
                      <a:pPr algn="ctr"/>
                      <a:r>
                        <a:rPr lang="en-IN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Muhammad Hamza Zakir</a:t>
                      </a:r>
                    </a:p>
                    <a:p>
                      <a:pPr algn="ctr"/>
                      <a:r>
                        <a:rPr lang="en-IN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Sobia Bashir</a:t>
                      </a:r>
                    </a:p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Year:2024</a:t>
                      </a:r>
                      <a:endParaRPr lang="en-IN" sz="1800" b="1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Artificial Intelligence and Machine Learning in Legal Research: A Comprehensive Analysis</a:t>
                      </a:r>
                    </a:p>
                    <a:p>
                      <a:pPr algn="ctr"/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-AI &amp; ML</a:t>
                      </a:r>
                    </a:p>
                    <a:p>
                      <a:pPr marL="0" indent="0" algn="ctr">
                        <a:buFontTx/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-Predictive analytics</a:t>
                      </a:r>
                    </a:p>
                    <a:p>
                      <a:pPr marL="0" indent="0" algn="ctr">
                        <a:buFontTx/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NLP tools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-Ethical concerns (bias, transparency)</a:t>
                      </a:r>
                    </a:p>
                    <a:p>
                      <a:pPr marL="0" indent="0" algn="ctr">
                        <a:buFontTx/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Dependency on quality data- Limited real-time deployment examples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738695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054115" y="6280840"/>
            <a:ext cx="764215" cy="365125"/>
          </a:xfrm>
        </p:spPr>
        <p:txBody>
          <a:bodyPr/>
          <a:lstStyle/>
          <a:p>
            <a:pPr algn="ctr"/>
            <a:fld id="{E8200808-2795-4AD7-910F-FE33AA07CB5C}" type="slidenum">
              <a:rPr lang="en-IN" sz="2000" smtClean="0"/>
              <a:pPr algn="ctr"/>
              <a:t>14</a:t>
            </a:fld>
            <a:endParaRPr lang="en-IN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321" y="1523999"/>
            <a:ext cx="11529391" cy="4532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3309831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729413" cy="6858000"/>
          </a:xfrm>
        </p:spPr>
      </p:pic>
      <p:sp>
        <p:nvSpPr>
          <p:cNvPr id="5" name="TextBox 4"/>
          <p:cNvSpPr txBox="1"/>
          <p:nvPr/>
        </p:nvSpPr>
        <p:spPr>
          <a:xfrm>
            <a:off x="6793937" y="1386870"/>
            <a:ext cx="4671215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Wingdings" pitchFamily="2" charset="2"/>
              <a:buChar char="Ø"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Visual Representation </a:t>
            </a:r>
          </a:p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of Legal Services.</a:t>
            </a:r>
          </a:p>
          <a:p>
            <a:pPr marL="457200" indent="-457200">
              <a:buFont typeface="Wingdings" pitchFamily="2" charset="2"/>
              <a:buChar char="Ø"/>
            </a:pP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Wingdings" pitchFamily="2" charset="2"/>
              <a:buChar char="Ø"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Professional Advocate </a:t>
            </a:r>
          </a:p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Integration.</a:t>
            </a:r>
          </a:p>
          <a:p>
            <a:pPr marL="457200" indent="-457200">
              <a:buFont typeface="Wingdings" pitchFamily="2" charset="2"/>
              <a:buChar char="Ø"/>
            </a:pP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Wingdings" pitchFamily="2" charset="2"/>
              <a:buChar char="Ø"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Organized Document </a:t>
            </a:r>
          </a:p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Management.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793937" y="6492875"/>
            <a:ext cx="764215" cy="365125"/>
          </a:xfrm>
        </p:spPr>
        <p:txBody>
          <a:bodyPr/>
          <a:lstStyle/>
          <a:p>
            <a:pPr algn="ctr"/>
            <a:fld id="{E8200808-2795-4AD7-910F-FE33AA07CB5C}" type="slidenum">
              <a:rPr lang="en-IN" sz="2000" smtClean="0"/>
              <a:pPr algn="ctr"/>
              <a:t>15</a:t>
            </a:fld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482968468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737" y="-200026"/>
            <a:ext cx="10364451" cy="1596177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Existing work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813761" y="1152654"/>
            <a:ext cx="11721139" cy="34241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cap="none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RECENT RESEARCH WORK (2023 ONWARDS)</a:t>
            </a:r>
          </a:p>
          <a:p>
            <a:pPr>
              <a:buFont typeface="Wingdings" pitchFamily="2" charset="2"/>
              <a:buChar char="ü"/>
            </a:pPr>
            <a:r>
              <a:rPr lang="en-US" b="1" cap="none" dirty="0">
                <a:latin typeface="Times New Roman" pitchFamily="18" charset="0"/>
                <a:cs typeface="Times New Roman" pitchFamily="18" charset="0"/>
              </a:rPr>
              <a:t>TITLE: </a:t>
            </a:r>
            <a:r>
              <a:rPr lang="en-US" b="1" cap="none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SAILER</a:t>
            </a:r>
            <a:r>
              <a:rPr lang="en-US" b="1" cap="none" dirty="0">
                <a:latin typeface="Times New Roman" pitchFamily="18" charset="0"/>
                <a:cs typeface="Times New Roman" pitchFamily="18" charset="0"/>
              </a:rPr>
              <a:t>: structure-aware pre-trained language model for legal case retrieval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b="1" cap="none" dirty="0">
                <a:latin typeface="Times New Roman" pitchFamily="18" charset="0"/>
                <a:cs typeface="Times New Roman" pitchFamily="18" charset="0"/>
              </a:rPr>
              <a:t>AUTHORS:</a:t>
            </a: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 haitao li, qingyao ai, jia chen, qian dong, yueyue wu, yiqun liu, chong chen, qi tian</a:t>
            </a:r>
            <a:br>
              <a:rPr lang="en-US" cap="none" dirty="0">
                <a:latin typeface="Times New Roman" pitchFamily="18" charset="0"/>
                <a:cs typeface="Times New Roman" pitchFamily="18" charset="0"/>
              </a:rPr>
            </a:br>
            <a:r>
              <a:rPr lang="en-US" b="1" cap="none" dirty="0">
                <a:latin typeface="Times New Roman" pitchFamily="18" charset="0"/>
                <a:cs typeface="Times New Roman" pitchFamily="18" charset="0"/>
              </a:rPr>
              <a:t>PUBLISHED:</a:t>
            </a: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 april 2023</a:t>
            </a:r>
            <a:br>
              <a:rPr lang="en-US" cap="none" dirty="0">
                <a:latin typeface="Times New Roman" pitchFamily="18" charset="0"/>
                <a:cs typeface="Times New Roman" pitchFamily="18" charset="0"/>
              </a:rPr>
            </a:br>
            <a:r>
              <a:rPr lang="en-US" b="1" cap="none" dirty="0">
                <a:latin typeface="Times New Roman" pitchFamily="18" charset="0"/>
                <a:cs typeface="Times New Roman" pitchFamily="18" charset="0"/>
              </a:rPr>
              <a:t>SOURCE:</a:t>
            </a: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 arxiv preprint</a:t>
            </a:r>
            <a:br>
              <a:rPr lang="en-US" cap="none" dirty="0">
                <a:latin typeface="Times New Roman" pitchFamily="18" charset="0"/>
                <a:cs typeface="Times New Roman" pitchFamily="18" charset="0"/>
              </a:rPr>
            </a:br>
            <a:r>
              <a:rPr lang="en-US" b="1" cap="none" dirty="0">
                <a:latin typeface="Times New Roman" pitchFamily="18" charset="0"/>
                <a:cs typeface="Times New Roman" pitchFamily="18" charset="0"/>
              </a:rPr>
              <a:t>LINK:</a:t>
            </a: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cap="none" dirty="0">
                <a:latin typeface="Times New Roman" pitchFamily="18" charset="0"/>
                <a:cs typeface="Times New Roman" pitchFamily="18" charset="0"/>
                <a:hlinkClick r:id="rId2"/>
              </a:rPr>
              <a:t>SAILER paper</a:t>
            </a:r>
            <a:r>
              <a:rPr lang="en-US" cap="none" dirty="0">
                <a:latin typeface="Times New Roman" pitchFamily="18" charset="0"/>
                <a:cs typeface="Times New Roman" pitchFamily="18" charset="0"/>
                <a:hlinkClick r:id="rId3"/>
              </a:rPr>
              <a:t>arxiv+2arxiv+2arxiv+2</a:t>
            </a:r>
            <a:endParaRPr lang="en-US" cap="none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cap="none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OVERVIEW:</a:t>
            </a:r>
            <a:br>
              <a:rPr lang="en-US" cap="none" dirty="0">
                <a:latin typeface="Times New Roman" pitchFamily="18" charset="0"/>
                <a:cs typeface="Times New Roman" pitchFamily="18" charset="0"/>
              </a:rPr>
            </a:br>
            <a:r>
              <a:rPr lang="en-US" b="1" cap="none" dirty="0">
                <a:latin typeface="Times New Roman" pitchFamily="18" charset="0"/>
                <a:cs typeface="Times New Roman" pitchFamily="18" charset="0"/>
              </a:rPr>
              <a:t>      SAILER </a:t>
            </a: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is a specialized pre-trained language model designed to enhance legal case retrieval by incorporating the structural nuances of legal documents. </a:t>
            </a:r>
          </a:p>
          <a:p>
            <a:pPr marL="0" indent="0">
              <a:buNone/>
            </a:pPr>
            <a:r>
              <a:rPr lang="en-US" b="1" cap="none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KEY FEATURES:</a:t>
            </a:r>
            <a:endParaRPr lang="en-US" cap="none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cap="none" dirty="0">
                <a:latin typeface="Times New Roman" pitchFamily="18" charset="0"/>
                <a:cs typeface="Times New Roman" pitchFamily="18" charset="0"/>
              </a:rPr>
              <a:t>Structure-aware modeling</a:t>
            </a:r>
            <a:endParaRPr lang="en-US" cap="none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cap="none" dirty="0">
                <a:latin typeface="Times New Roman" pitchFamily="18" charset="0"/>
                <a:cs typeface="Times New Roman" pitchFamily="18" charset="0"/>
              </a:rPr>
              <a:t>Asymmetric encoder-decoder architecture</a:t>
            </a:r>
            <a:endParaRPr lang="en-US" cap="none" dirty="0">
              <a:latin typeface="Times New Roman" pitchFamily="18" charset="0"/>
              <a:cs typeface="Times New Roman" pitchFamily="18" charset="0"/>
            </a:endParaRPr>
          </a:p>
          <a:p>
            <a:endParaRPr lang="en-US" cap="none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048029" y="6333849"/>
            <a:ext cx="764215" cy="365125"/>
          </a:xfrm>
        </p:spPr>
        <p:txBody>
          <a:bodyPr/>
          <a:lstStyle/>
          <a:p>
            <a:pPr algn="ctr"/>
            <a:fld id="{E8200808-2795-4AD7-910F-FE33AA07CB5C}" type="slidenum">
              <a:rPr lang="en-IN" sz="2000" smtClean="0"/>
              <a:pPr algn="ctr"/>
              <a:t>16</a:t>
            </a:fld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634872425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6008" y="0"/>
            <a:ext cx="10364451" cy="1596177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Methodology USED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39213" y="1378949"/>
            <a:ext cx="15205587" cy="547905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cap="none" dirty="0">
                <a:latin typeface="Times New Roman" pitchFamily="18" charset="0"/>
                <a:cs typeface="Times New Roman" pitchFamily="18" charset="0"/>
              </a:rPr>
              <a:t>DOCUMENT INPUT AND PREPROCESSING</a:t>
            </a:r>
          </a:p>
          <a:p>
            <a:pPr>
              <a:lnSpc>
                <a:spcPct val="150000"/>
              </a:lnSpc>
            </a:pP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Accepts legal documents in </a:t>
            </a:r>
            <a:r>
              <a:rPr lang="en-US" b="1" cap="none" dirty="0">
                <a:latin typeface="Times New Roman" pitchFamily="18" charset="0"/>
                <a:cs typeface="Times New Roman" pitchFamily="18" charset="0"/>
              </a:rPr>
              <a:t>PDF, DOCX, or TXT</a:t>
            </a: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 formats.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cap="none" dirty="0">
                <a:latin typeface="Times New Roman" pitchFamily="18" charset="0"/>
                <a:cs typeface="Times New Roman" pitchFamily="18" charset="0"/>
              </a:rPr>
              <a:t>DOCUMENT CLASSIFICATION</a:t>
            </a:r>
          </a:p>
          <a:p>
            <a:pPr>
              <a:lnSpc>
                <a:spcPct val="150000"/>
              </a:lnSpc>
            </a:pP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Goal: categorize legal documents into domains such as </a:t>
            </a:r>
            <a:r>
              <a:rPr lang="en-US" b="1" cap="none" dirty="0">
                <a:latin typeface="Times New Roman" pitchFamily="18" charset="0"/>
                <a:cs typeface="Times New Roman" pitchFamily="18" charset="0"/>
              </a:rPr>
              <a:t>criminal, civil, corporate, etc.</a:t>
            </a:r>
            <a:endParaRPr lang="en-US" cap="none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Model: </a:t>
            </a:r>
            <a:r>
              <a:rPr lang="en-US" b="1" cap="none" dirty="0">
                <a:latin typeface="Times New Roman" pitchFamily="18" charset="0"/>
                <a:cs typeface="Times New Roman" pitchFamily="18" charset="0"/>
              </a:rPr>
              <a:t>legalbert</a:t>
            </a: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 fine-tuned on labeled legal datasets.</a:t>
            </a:r>
          </a:p>
          <a:p>
            <a:pPr>
              <a:lnSpc>
                <a:spcPct val="150000"/>
              </a:lnSpc>
            </a:pP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Output: classification label + confidence score.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cap="none" dirty="0">
                <a:latin typeface="Times New Roman" pitchFamily="18" charset="0"/>
                <a:cs typeface="Times New Roman" pitchFamily="18" charset="0"/>
              </a:rPr>
              <a:t>CLAUSE DETECTION</a:t>
            </a:r>
          </a:p>
          <a:p>
            <a:pPr>
              <a:lnSpc>
                <a:spcPct val="150000"/>
              </a:lnSpc>
            </a:pP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Detects and extracts clauses like:    </a:t>
            </a:r>
            <a:r>
              <a:rPr lang="en-US" sz="2000" i="1" cap="none" dirty="0">
                <a:latin typeface="Times New Roman" pitchFamily="18" charset="0"/>
                <a:cs typeface="Times New Roman" pitchFamily="18" charset="0"/>
              </a:rPr>
              <a:t>Jurisdiction</a:t>
            </a:r>
            <a:r>
              <a:rPr lang="en-US" sz="2000" cap="none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i="1" cap="none" dirty="0">
                <a:latin typeface="Times New Roman" pitchFamily="18" charset="0"/>
                <a:cs typeface="Times New Roman" pitchFamily="18" charset="0"/>
              </a:rPr>
              <a:t>force majeure</a:t>
            </a:r>
            <a:r>
              <a:rPr lang="en-US" sz="2000" cap="none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i="1" cap="none" dirty="0">
                <a:latin typeface="Times New Roman" pitchFamily="18" charset="0"/>
                <a:cs typeface="Times New Roman" pitchFamily="18" charset="0"/>
              </a:rPr>
              <a:t>arbitration</a:t>
            </a:r>
            <a:r>
              <a:rPr lang="en-US" sz="2000" cap="none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i="1" cap="none" dirty="0">
                <a:latin typeface="Times New Roman" pitchFamily="18" charset="0"/>
                <a:cs typeface="Times New Roman" pitchFamily="18" charset="0"/>
              </a:rPr>
              <a:t>termination</a:t>
            </a:r>
            <a:r>
              <a:rPr lang="en-US" sz="2000" cap="none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i="1" cap="none" dirty="0">
                <a:latin typeface="Times New Roman" pitchFamily="18" charset="0"/>
                <a:cs typeface="Times New Roman" pitchFamily="18" charset="0"/>
              </a:rPr>
              <a:t>indemnity</a:t>
            </a:r>
            <a:r>
              <a:rPr lang="en-US" sz="2000" cap="none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Method:  rule-based patterns (regex + legal templates). Custom ner (spacy) trained on annotated clause data.</a:t>
            </a:r>
          </a:p>
          <a:p>
            <a:pPr>
              <a:lnSpc>
                <a:spcPct val="150000"/>
              </a:lnSpc>
            </a:pPr>
            <a:endParaRPr lang="en-US" sz="2000" cap="none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>
          <a:xfrm>
            <a:off x="11319229" y="5965162"/>
            <a:ext cx="764215" cy="365125"/>
          </a:xfrm>
        </p:spPr>
        <p:txBody>
          <a:bodyPr/>
          <a:lstStyle/>
          <a:p>
            <a:pPr algn="ctr"/>
            <a:fld id="{E8200808-2795-4AD7-910F-FE33AA07CB5C}" type="slidenum">
              <a:rPr lang="en-IN" sz="2000" smtClean="0"/>
              <a:pPr algn="ctr"/>
              <a:t>17</a:t>
            </a:fld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325588728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499562" y="381129"/>
            <a:ext cx="11773526" cy="6476871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b="1" cap="none" dirty="0">
                <a:latin typeface="Times New Roman" pitchFamily="18" charset="0"/>
                <a:cs typeface="Times New Roman" pitchFamily="18" charset="0"/>
              </a:rPr>
              <a:t>SUMMARIZATION</a:t>
            </a:r>
          </a:p>
          <a:p>
            <a:pPr algn="just">
              <a:lnSpc>
                <a:spcPct val="100000"/>
              </a:lnSpc>
            </a:pP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Reduces large legal documents into concise summaries.</a:t>
            </a:r>
          </a:p>
          <a:p>
            <a:pPr algn="just">
              <a:lnSpc>
                <a:spcPct val="100000"/>
              </a:lnSpc>
            </a:pP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Models: </a:t>
            </a:r>
            <a:r>
              <a:rPr lang="en-US" sz="2000" b="1" cap="none" dirty="0">
                <a:latin typeface="Times New Roman" pitchFamily="18" charset="0"/>
                <a:cs typeface="Times New Roman" pitchFamily="18" charset="0"/>
              </a:rPr>
              <a:t>Pegasus</a:t>
            </a:r>
            <a:r>
              <a:rPr lang="en-US" sz="2000" cap="none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b="1" cap="none" dirty="0">
                <a:latin typeface="Times New Roman" pitchFamily="18" charset="0"/>
                <a:cs typeface="Times New Roman" pitchFamily="18" charset="0"/>
              </a:rPr>
              <a:t>longt5</a:t>
            </a:r>
            <a:r>
              <a:rPr lang="en-US" sz="2000" cap="none" dirty="0">
                <a:latin typeface="Times New Roman" pitchFamily="18" charset="0"/>
                <a:cs typeface="Times New Roman" pitchFamily="18" charset="0"/>
              </a:rPr>
              <a:t>, or </a:t>
            </a:r>
            <a:r>
              <a:rPr lang="en-US" sz="2000" b="1" cap="none" dirty="0">
                <a:latin typeface="Times New Roman" pitchFamily="18" charset="0"/>
                <a:cs typeface="Times New Roman" pitchFamily="18" charset="0"/>
              </a:rPr>
              <a:t>BART</a:t>
            </a:r>
            <a:r>
              <a:rPr lang="en-US" sz="2000" cap="none" dirty="0">
                <a:latin typeface="Times New Roman" pitchFamily="18" charset="0"/>
                <a:cs typeface="Times New Roman" pitchFamily="18" charset="0"/>
              </a:rPr>
              <a:t> fine-tuned on legal corpora.</a:t>
            </a:r>
          </a:p>
          <a:p>
            <a:pPr algn="just">
              <a:lnSpc>
                <a:spcPct val="100000"/>
              </a:lnSpc>
            </a:pP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Techniques:   </a:t>
            </a:r>
            <a:r>
              <a:rPr lang="en-US" sz="2000" b="1" cap="none" dirty="0">
                <a:latin typeface="Times New Roman" pitchFamily="18" charset="0"/>
                <a:cs typeface="Times New Roman" pitchFamily="18" charset="0"/>
              </a:rPr>
              <a:t>Abstractive summarization</a:t>
            </a:r>
            <a:r>
              <a:rPr lang="en-US" sz="2000" cap="none" dirty="0">
                <a:latin typeface="Times New Roman" pitchFamily="18" charset="0"/>
                <a:cs typeface="Times New Roman" pitchFamily="18" charset="0"/>
              </a:rPr>
              <a:t> (generates new sentences).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                           </a:t>
            </a:r>
            <a:r>
              <a:rPr lang="en-US" sz="2000" cap="none" dirty="0">
                <a:latin typeface="Times New Roman" pitchFamily="18" charset="0"/>
                <a:cs typeface="Times New Roman" pitchFamily="18" charset="0"/>
              </a:rPr>
              <a:t>May combine with </a:t>
            </a:r>
            <a:r>
              <a:rPr lang="en-US" sz="2000" b="1" cap="none" dirty="0">
                <a:latin typeface="Times New Roman" pitchFamily="18" charset="0"/>
                <a:cs typeface="Times New Roman" pitchFamily="18" charset="0"/>
              </a:rPr>
              <a:t>extractive methods</a:t>
            </a:r>
            <a:r>
              <a:rPr lang="en-US" sz="2000" cap="none" dirty="0">
                <a:latin typeface="Times New Roman" pitchFamily="18" charset="0"/>
                <a:cs typeface="Times New Roman" pitchFamily="18" charset="0"/>
              </a:rPr>
              <a:t> for better factual retention.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b="1" cap="none" dirty="0">
                <a:latin typeface="Times New Roman" pitchFamily="18" charset="0"/>
                <a:cs typeface="Times New Roman" pitchFamily="18" charset="0"/>
              </a:rPr>
              <a:t>LEGAL CASE RETRIEVAL</a:t>
            </a:r>
          </a:p>
          <a:p>
            <a:pPr algn="just">
              <a:lnSpc>
                <a:spcPct val="100000"/>
              </a:lnSpc>
            </a:pP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Goal: retrieve semantically similar past judgments or statutes.</a:t>
            </a:r>
          </a:p>
          <a:p>
            <a:pPr algn="just">
              <a:lnSpc>
                <a:spcPct val="100000"/>
              </a:lnSpc>
            </a:pP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Models:  </a:t>
            </a:r>
            <a:r>
              <a:rPr lang="en-US" sz="2000" cap="none" dirty="0">
                <a:latin typeface="Times New Roman" pitchFamily="18" charset="0"/>
                <a:cs typeface="Times New Roman" pitchFamily="18" charset="0"/>
              </a:rPr>
              <a:t>Embeddings via </a:t>
            </a:r>
            <a:r>
              <a:rPr lang="en-US" sz="2000" b="1" cap="none" dirty="0">
                <a:latin typeface="Times New Roman" pitchFamily="18" charset="0"/>
                <a:cs typeface="Times New Roman" pitchFamily="18" charset="0"/>
              </a:rPr>
              <a:t>sentence- bert</a:t>
            </a:r>
            <a:r>
              <a:rPr lang="en-US" sz="2000" cap="none" dirty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000" b="1" cap="none" dirty="0">
                <a:latin typeface="Times New Roman" pitchFamily="18" charset="0"/>
                <a:cs typeface="Times New Roman" pitchFamily="18" charset="0"/>
              </a:rPr>
              <a:t>SAILER</a:t>
            </a:r>
            <a:r>
              <a:rPr lang="en-US" sz="2000" cap="none" dirty="0">
                <a:latin typeface="Times New Roman" pitchFamily="18" charset="0"/>
                <a:cs typeface="Times New Roman" pitchFamily="18" charset="0"/>
              </a:rPr>
              <a:t> (structure-aware).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b="1" cap="none" dirty="0">
                <a:latin typeface="Times New Roman" pitchFamily="18" charset="0"/>
                <a:cs typeface="Times New Roman" pitchFamily="18" charset="0"/>
              </a:rPr>
              <a:t>QUESTION ANSWERING (QA)</a:t>
            </a:r>
          </a:p>
          <a:p>
            <a:pPr algn="just">
              <a:lnSpc>
                <a:spcPct val="100000"/>
              </a:lnSpc>
            </a:pP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Allows user to ask </a:t>
            </a:r>
            <a:r>
              <a:rPr lang="en-US" b="1" cap="none" dirty="0">
                <a:latin typeface="Times New Roman" pitchFamily="18" charset="0"/>
                <a:cs typeface="Times New Roman" pitchFamily="18" charset="0"/>
              </a:rPr>
              <a:t>natural language questions</a:t>
            </a: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 based on uploaded document.</a:t>
            </a:r>
          </a:p>
          <a:p>
            <a:pPr algn="just">
              <a:lnSpc>
                <a:spcPct val="100000"/>
              </a:lnSpc>
            </a:pP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Model: </a:t>
            </a:r>
            <a:r>
              <a:rPr lang="en-US" sz="2000" cap="none" dirty="0">
                <a:latin typeface="Times New Roman" pitchFamily="18" charset="0"/>
                <a:cs typeface="Times New Roman" pitchFamily="18" charset="0"/>
              </a:rPr>
              <a:t>Legalbert or roberta fine-tuned on squad or legal QA datasets.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b="1" cap="none" dirty="0">
                <a:latin typeface="Times New Roman" pitchFamily="18" charset="0"/>
                <a:cs typeface="Times New Roman" pitchFamily="18" charset="0"/>
              </a:rPr>
              <a:t>USER INTERFACE AND DISPLAY</a:t>
            </a:r>
          </a:p>
          <a:p>
            <a:pPr algn="just">
              <a:lnSpc>
                <a:spcPct val="100000"/>
              </a:lnSpc>
            </a:pP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Frontend built with </a:t>
            </a:r>
            <a:r>
              <a:rPr lang="en-US" b="1" cap="none" dirty="0">
                <a:latin typeface="Times New Roman" pitchFamily="18" charset="0"/>
                <a:cs typeface="Times New Roman" pitchFamily="18" charset="0"/>
              </a:rPr>
              <a:t>react.Js</a:t>
            </a: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b="1" cap="none" dirty="0">
                <a:latin typeface="Times New Roman" pitchFamily="18" charset="0"/>
                <a:cs typeface="Times New Roman" pitchFamily="18" charset="0"/>
              </a:rPr>
              <a:t>tailwind CSS</a:t>
            </a: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Displays: </a:t>
            </a:r>
            <a:r>
              <a:rPr lang="en-US" sz="2000" cap="none" dirty="0">
                <a:latin typeface="Times New Roman" pitchFamily="18" charset="0"/>
                <a:cs typeface="Times New Roman" pitchFamily="18" charset="0"/>
              </a:rPr>
              <a:t>Document summary, Extracted clauses,Classification label,Retrieved similar cases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               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372167" y="6492875"/>
            <a:ext cx="764215" cy="365125"/>
          </a:xfrm>
        </p:spPr>
        <p:txBody>
          <a:bodyPr/>
          <a:lstStyle/>
          <a:p>
            <a:pPr algn="ctr"/>
            <a:fld id="{E8200808-2795-4AD7-910F-FE33AA07CB5C}" type="slidenum">
              <a:rPr lang="en-IN" sz="2000" smtClean="0"/>
              <a:pPr algn="ctr"/>
              <a:t>18</a:t>
            </a:fld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77220286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05FFD9E-2015-9A49-D0BF-133771A68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57543"/>
            <a:ext cx="10364451" cy="1596177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System Architecture</a:t>
            </a:r>
            <a:endParaRPr lang="en-IN" sz="4400" dirty="0">
              <a:solidFill>
                <a:srgbClr val="FF0000"/>
              </a:solidFill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1CFA03B-3384-DF1E-4341-DA0EDA9737C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367092"/>
            <a:ext cx="10363826" cy="3424107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53720"/>
            <a:ext cx="12192000" cy="509318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027611" y="6581775"/>
            <a:ext cx="764215" cy="365125"/>
          </a:xfrm>
        </p:spPr>
        <p:txBody>
          <a:bodyPr/>
          <a:lstStyle/>
          <a:p>
            <a:fld id="{E8200808-2795-4AD7-910F-FE33AA07CB5C}" type="slidenum">
              <a:rPr lang="en-IN" sz="2000" smtClean="0"/>
              <a:t>19</a:t>
            </a:fld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52415307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FEF27-A42B-1919-74BB-D14A89320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337" y="232755"/>
            <a:ext cx="10364451" cy="159617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ADVANTAGES</a:t>
            </a:r>
            <a:br>
              <a:rPr lang="en-US" sz="40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sz="4000" dirty="0">
              <a:solidFill>
                <a:srgbClr val="00B05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688" y="1385888"/>
            <a:ext cx="10201275" cy="5472112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044099" y="6373605"/>
            <a:ext cx="764215" cy="365125"/>
          </a:xfrm>
        </p:spPr>
        <p:txBody>
          <a:bodyPr/>
          <a:lstStyle/>
          <a:p>
            <a:pPr algn="ctr"/>
            <a:fld id="{E8200808-2795-4AD7-910F-FE33AA07CB5C}" type="slidenum">
              <a:rPr lang="en-IN" sz="2000" smtClean="0"/>
              <a:pPr algn="ctr"/>
              <a:t>20</a:t>
            </a:fld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784686521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71E6882-BB0F-DB78-01B3-D5A6FEB14DC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4621" y="1259634"/>
            <a:ext cx="7156580" cy="547706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97659-8CC2-8EA3-3DFF-947AC22D8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00808-2795-4AD7-910F-FE33AA07CB5C}" type="slidenum">
              <a:rPr lang="en-IN" smtClean="0"/>
              <a:t>21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4954247-807D-7213-2D33-D8D6AE016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482495"/>
          </a:xfrm>
        </p:spPr>
        <p:txBody>
          <a:bodyPr>
            <a:normAutofit fontScale="90000"/>
          </a:bodyPr>
          <a:lstStyle/>
          <a:p>
            <a:r>
              <a:rPr lang="en-IN" dirty="0"/>
              <a:t>flow chart</a:t>
            </a:r>
          </a:p>
        </p:txBody>
      </p:sp>
    </p:spTree>
    <p:extLst>
      <p:ext uri="{BB962C8B-B14F-4D97-AF65-F5344CB8AC3E}">
        <p14:creationId xmlns:p14="http://schemas.microsoft.com/office/powerpoint/2010/main" val="1591196641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56CF3-7142-63A3-A972-CD2F7A21E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603793"/>
          </a:xfrm>
        </p:spPr>
        <p:txBody>
          <a:bodyPr>
            <a:normAutofit/>
          </a:bodyPr>
          <a:lstStyle/>
          <a:p>
            <a:r>
              <a:rPr lang="en-IN" dirty="0"/>
              <a:t>Legal Document Assistant — Core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71085-E584-9A96-EA9E-C19957BA43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343608"/>
            <a:ext cx="10363826" cy="4758612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b="1" cap="none" dirty="0"/>
              <a:t>Input:</a:t>
            </a:r>
            <a:r>
              <a:rPr lang="en-IN" cap="none" dirty="0"/>
              <a:t> PDF/DOCX legal document, user query (optional)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b="1" cap="none" dirty="0"/>
              <a:t>Output:</a:t>
            </a:r>
            <a:r>
              <a:rPr lang="en-IN" cap="none" dirty="0"/>
              <a:t> extracted parties, dates, clauses, key terms, multilingual summary, answers to legal queries</a:t>
            </a:r>
          </a:p>
          <a:p>
            <a:r>
              <a:rPr lang="en-IN" b="1" dirty="0"/>
              <a:t>Steps:</a:t>
            </a:r>
          </a:p>
          <a:p>
            <a:pPr marL="0" indent="0">
              <a:buNone/>
            </a:pPr>
            <a:r>
              <a:rPr lang="en-IN" b="1" dirty="0"/>
              <a:t>1.  User Upload:</a:t>
            </a:r>
            <a:endParaRPr lang="en-IN" dirty="0"/>
          </a:p>
          <a:p>
            <a:pPr lvl="1"/>
            <a:r>
              <a:rPr lang="en-IN" cap="none" dirty="0"/>
              <a:t>Receive file from user (PDF/DOCX).</a:t>
            </a:r>
          </a:p>
          <a:p>
            <a:pPr lvl="1"/>
            <a:r>
              <a:rPr lang="en-IN" cap="none" dirty="0"/>
              <a:t>Validate file type and size.</a:t>
            </a:r>
          </a:p>
          <a:p>
            <a:pPr lvl="1"/>
            <a:r>
              <a:rPr lang="en-IN" cap="none" dirty="0"/>
              <a:t>Store file in object storage (s3) and metadata in db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b="1" dirty="0"/>
              <a:t>2.  Queue Job:</a:t>
            </a:r>
            <a:endParaRPr lang="en-IN" dirty="0"/>
          </a:p>
          <a:p>
            <a:pPr lvl="1"/>
            <a:r>
              <a:rPr lang="en-IN" cap="none" dirty="0"/>
              <a:t>Create processing job with document ID.</a:t>
            </a:r>
          </a:p>
          <a:p>
            <a:pPr lvl="1"/>
            <a:r>
              <a:rPr lang="en-IN" cap="none" dirty="0"/>
              <a:t>Push job to task queue (</a:t>
            </a:r>
            <a:r>
              <a:rPr lang="en-IN" cap="none" dirty="0" err="1"/>
              <a:t>redis</a:t>
            </a:r>
            <a:r>
              <a:rPr lang="en-IN" cap="none" dirty="0"/>
              <a:t>/celery/</a:t>
            </a:r>
            <a:r>
              <a:rPr lang="en-IN" cap="none" dirty="0" err="1"/>
              <a:t>rabbitmq</a:t>
            </a:r>
            <a:r>
              <a:rPr lang="en-IN" cap="none" dirty="0"/>
              <a:t>).</a:t>
            </a:r>
          </a:p>
          <a:p>
            <a:pPr marL="0" indent="0">
              <a:buNone/>
            </a:pPr>
            <a:r>
              <a:rPr lang="en-IN" b="1" dirty="0"/>
              <a:t>3.  Document Conversion:</a:t>
            </a:r>
            <a:endParaRPr lang="en-IN" dirty="0"/>
          </a:p>
          <a:p>
            <a:pPr lvl="1"/>
            <a:r>
              <a:rPr lang="en-IN" cap="none" dirty="0"/>
              <a:t>If DOCX → convert to text.</a:t>
            </a:r>
          </a:p>
          <a:p>
            <a:pPr lvl="1"/>
            <a:r>
              <a:rPr lang="en-IN" cap="none" dirty="0"/>
              <a:t>If pdf → extract text; if scanned pdf → perform </a:t>
            </a:r>
            <a:r>
              <a:rPr lang="en-IN" cap="none" dirty="0" err="1"/>
              <a:t>ocr</a:t>
            </a:r>
            <a:r>
              <a:rPr lang="en-IN" cap="none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IN" sz="16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E4948-0090-96E8-5CF4-34D9C82A2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00808-2795-4AD7-910F-FE33AA07CB5C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4205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3E655-CC70-3F99-D28D-D9491BAD6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00808-2795-4AD7-910F-FE33AA07CB5C}" type="slidenum">
              <a:rPr lang="en-IN" smtClean="0"/>
              <a:t>23</a:t>
            </a:fld>
            <a:endParaRPr lang="en-IN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D81B6540-DD0F-E3F2-6A86-830F31FE0E4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4399" y="904874"/>
            <a:ext cx="8761445" cy="492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 text (remove special characters, normalize spaces).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 language.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Split document into chunks (paragraphs or clauses).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Information Extraction: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NER / rule-based extraction to identify: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Clauses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legal terms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 structured data in DB (JSON format).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Embedding Generation: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 text chunks into embeddings.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 embeddings in Vector Database for semantic search &amp; comparison.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Summarization: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summary using LLM.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Translate summary to multiple languages (English, Hindi, Kannada,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 summaries in DB.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4444394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777DB-F3C4-B017-F1D8-BA49E8FBBD2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609600"/>
            <a:ext cx="10363826" cy="5181599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Q&amp;A Handling (Optional):</a:t>
            </a:r>
            <a:endParaRPr lang="en-IN" dirty="0"/>
          </a:p>
          <a:p>
            <a:pPr lvl="1"/>
            <a:r>
              <a:rPr lang="en-IN" cap="none" dirty="0"/>
              <a:t>Receive user query.</a:t>
            </a:r>
          </a:p>
          <a:p>
            <a:pPr lvl="1"/>
            <a:r>
              <a:rPr lang="en-IN" cap="none" dirty="0"/>
              <a:t>Embed query and retrieve top-k relevant chunks from vector db.</a:t>
            </a:r>
          </a:p>
          <a:p>
            <a:pPr lvl="1"/>
            <a:r>
              <a:rPr lang="en-IN" cap="none" dirty="0"/>
              <a:t>Pass retrieved context + query to </a:t>
            </a:r>
            <a:r>
              <a:rPr lang="en-IN" cap="none" dirty="0" err="1"/>
              <a:t>llm</a:t>
            </a:r>
            <a:r>
              <a:rPr lang="en-IN" cap="none" dirty="0"/>
              <a:t> to generate answer.</a:t>
            </a:r>
          </a:p>
          <a:p>
            <a:pPr lvl="1"/>
            <a:r>
              <a:rPr lang="en-IN" cap="none" dirty="0"/>
              <a:t>Translate answer into requested languages.</a:t>
            </a:r>
          </a:p>
          <a:p>
            <a:r>
              <a:rPr lang="en-IN" b="1" dirty="0"/>
              <a:t>Document Comparison (Optional):</a:t>
            </a:r>
            <a:endParaRPr lang="en-IN" dirty="0"/>
          </a:p>
          <a:p>
            <a:pPr lvl="1"/>
            <a:r>
              <a:rPr lang="en-IN" cap="none" dirty="0"/>
              <a:t>Select two documents.</a:t>
            </a:r>
          </a:p>
          <a:p>
            <a:pPr lvl="1"/>
            <a:r>
              <a:rPr lang="en-IN" cap="none" dirty="0"/>
              <a:t>Generate clause-level embeddings.</a:t>
            </a:r>
          </a:p>
          <a:p>
            <a:pPr lvl="1"/>
            <a:r>
              <a:rPr lang="en-IN" cap="none" dirty="0"/>
              <a:t>Compute similarity scores and align clauses.</a:t>
            </a:r>
          </a:p>
          <a:p>
            <a:pPr lvl="1"/>
            <a:r>
              <a:rPr lang="en-IN" cap="none" dirty="0"/>
              <a:t>Present differences and similarities.</a:t>
            </a:r>
          </a:p>
          <a:p>
            <a:r>
              <a:rPr lang="en-IN" b="1" dirty="0"/>
              <a:t>Dashboard Update:</a:t>
            </a:r>
            <a:endParaRPr lang="en-IN" dirty="0"/>
          </a:p>
          <a:p>
            <a:pPr lvl="1"/>
            <a:r>
              <a:rPr lang="en-IN" cap="none" dirty="0"/>
              <a:t>Update user dashboard with processed document, summaries, Q&amp;A results, and comparison reports.</a:t>
            </a:r>
          </a:p>
          <a:p>
            <a:r>
              <a:rPr lang="en-IN" b="1" dirty="0"/>
              <a:t>Return Results:</a:t>
            </a:r>
            <a:endParaRPr lang="en-IN" dirty="0"/>
          </a:p>
          <a:p>
            <a:pPr lvl="1"/>
            <a:r>
              <a:rPr lang="en-IN" cap="none" dirty="0"/>
              <a:t>Notify frontend via </a:t>
            </a:r>
            <a:r>
              <a:rPr lang="en-IN" cap="none" dirty="0" err="1"/>
              <a:t>websocket</a:t>
            </a:r>
            <a:r>
              <a:rPr lang="en-IN" cap="none" dirty="0"/>
              <a:t>/SSE.</a:t>
            </a:r>
          </a:p>
          <a:p>
            <a:pPr lvl="1"/>
            <a:r>
              <a:rPr lang="en-IN" cap="none" dirty="0"/>
              <a:t>Provide structured extraction, multilingual summaries, </a:t>
            </a:r>
            <a:r>
              <a:rPr lang="en-IN" cap="none" dirty="0" err="1"/>
              <a:t>q&amp;a</a:t>
            </a:r>
            <a:r>
              <a:rPr lang="en-IN" cap="none" dirty="0"/>
              <a:t> responses, and comparison results.</a:t>
            </a:r>
          </a:p>
          <a:p>
            <a:r>
              <a:rPr lang="en-IN" b="1" dirty="0"/>
              <a:t>End of Algorithm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ED62C-0BDF-D52A-C21C-B89DD8586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00808-2795-4AD7-910F-FE33AA07CB5C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552142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1C5E1-98AF-7343-72C5-95B9E1D48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107" y="-278296"/>
            <a:ext cx="10364451" cy="1596177"/>
          </a:xfrm>
        </p:spPr>
        <p:txBody>
          <a:bodyPr>
            <a:normAutofit/>
          </a:bodyPr>
          <a:lstStyle/>
          <a:p>
            <a:r>
              <a:rPr lang="en-US" sz="4000" b="1" kern="12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CONCLUSION</a:t>
            </a:r>
            <a:endParaRPr lang="en-IN" sz="4000" dirty="0">
              <a:solidFill>
                <a:srgbClr val="00B05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43075" y="2743200"/>
            <a:ext cx="6157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86813" y="1152526"/>
            <a:ext cx="12005187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AI-Powered Legal Document Assistant is a smart system designed to simplify and speed up the process of reading and understanding legal documents. By using parametric models like BERT, GPT, and T5, the system can: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Summarize lengthy legal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judgmentsClassify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legal clauses from agreements (like lease contracts)Answer user queries accurately through a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chatbotAssist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lawyers, clients, and legal staff in understanding complex documents easily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improves legal efficiency, reduces manual work, and makes legal services more accessible.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5093872" y="6492875"/>
            <a:ext cx="764215" cy="365125"/>
          </a:xfrm>
        </p:spPr>
        <p:txBody>
          <a:bodyPr/>
          <a:lstStyle/>
          <a:p>
            <a:pPr algn="ctr"/>
            <a:fld id="{E8200808-2795-4AD7-910F-FE33AA07CB5C}" type="slidenum">
              <a:rPr lang="en-IN" sz="2000" smtClean="0"/>
              <a:pPr algn="ctr"/>
              <a:t>25</a:t>
            </a:fld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926857814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EC3FA-938D-C73F-2308-E39549E1A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856" y="-225287"/>
            <a:ext cx="10364451" cy="1596177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00B050"/>
                </a:solidFill>
                <a:latin typeface="Times New Roman" pitchFamily="18" charset="0"/>
                <a:ea typeface="Poppins Medium Bold"/>
                <a:cs typeface="Times New Roman" pitchFamily="18" charset="0"/>
                <a:sym typeface="Poppins Medium Bold"/>
              </a:rPr>
              <a:t>REFERENCES</a:t>
            </a:r>
            <a:endParaRPr lang="en-IN" sz="4000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64CFC-6F34-F01E-88A7-C1C1FB1BC07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3591" y="1196968"/>
            <a:ext cx="11270357" cy="6051971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 P. D. </a:t>
            </a:r>
            <a:r>
              <a:rPr lang="en-US" cap="none" dirty="0" err="1">
                <a:latin typeface="Times New Roman" pitchFamily="18" charset="0"/>
                <a:cs typeface="Times New Roman" pitchFamily="18" charset="0"/>
              </a:rPr>
              <a:t>Jadhav</a:t>
            </a: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, S. D. </a:t>
            </a:r>
            <a:r>
              <a:rPr lang="en-US" cap="none" dirty="0" err="1">
                <a:latin typeface="Times New Roman" pitchFamily="18" charset="0"/>
                <a:cs typeface="Times New Roman" pitchFamily="18" charset="0"/>
              </a:rPr>
              <a:t>Belsare</a:t>
            </a: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, K. P. </a:t>
            </a:r>
            <a:r>
              <a:rPr lang="en-US" cap="none" dirty="0" err="1">
                <a:latin typeface="Times New Roman" pitchFamily="18" charset="0"/>
                <a:cs typeface="Times New Roman" pitchFamily="18" charset="0"/>
              </a:rPr>
              <a:t>Malpe</a:t>
            </a: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, A. A. </a:t>
            </a:r>
            <a:r>
              <a:rPr lang="en-US" cap="none" dirty="0" err="1">
                <a:latin typeface="Times New Roman" pitchFamily="18" charset="0"/>
                <a:cs typeface="Times New Roman" pitchFamily="18" charset="0"/>
              </a:rPr>
              <a:t>Bodakhe</a:t>
            </a: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, L. R. </a:t>
            </a:r>
            <a:r>
              <a:rPr lang="en-US" cap="none" dirty="0" err="1">
                <a:latin typeface="Times New Roman" pitchFamily="18" charset="0"/>
                <a:cs typeface="Times New Roman" pitchFamily="18" charset="0"/>
              </a:rPr>
              <a:t>Jadhav</a:t>
            </a: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, and dr. L. K. </a:t>
            </a:r>
            <a:r>
              <a:rPr lang="en-US" cap="none" dirty="0" err="1">
                <a:latin typeface="Times New Roman" pitchFamily="18" charset="0"/>
                <a:cs typeface="Times New Roman" pitchFamily="18" charset="0"/>
              </a:rPr>
              <a:t>Gautam</a:t>
            </a: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, "</a:t>
            </a:r>
            <a:r>
              <a:rPr lang="en-US" cap="none" dirty="0" err="1">
                <a:latin typeface="Times New Roman" pitchFamily="18" charset="0"/>
                <a:cs typeface="Times New Roman" pitchFamily="18" charset="0"/>
              </a:rPr>
              <a:t>legalquest</a:t>
            </a: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: A review of </a:t>
            </a:r>
            <a:r>
              <a:rPr lang="en-US" cap="none" dirty="0" err="1">
                <a:latin typeface="Times New Roman" pitchFamily="18" charset="0"/>
                <a:cs typeface="Times New Roman" pitchFamily="18" charset="0"/>
              </a:rPr>
              <a:t>ai</a:t>
            </a: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-powered legal assistant app," </a:t>
            </a:r>
            <a:r>
              <a:rPr lang="en-US" i="1" cap="none" dirty="0">
                <a:latin typeface="Times New Roman" pitchFamily="18" charset="0"/>
                <a:cs typeface="Times New Roman" pitchFamily="18" charset="0"/>
              </a:rPr>
              <a:t>international journal of research publication and reviews</a:t>
            </a: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, vol. 6, no. 4, pp. 289–294, </a:t>
            </a:r>
            <a:r>
              <a:rPr lang="en-US" cap="none" dirty="0" err="1">
                <a:latin typeface="Times New Roman" pitchFamily="18" charset="0"/>
                <a:cs typeface="Times New Roman" pitchFamily="18" charset="0"/>
              </a:rPr>
              <a:t>apr.</a:t>
            </a: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 2025.(IEEE)</a:t>
            </a:r>
          </a:p>
          <a:p>
            <a:pPr marL="457200" indent="-457200">
              <a:buFont typeface="+mj-lt"/>
              <a:buAutoNum type="arabicPeriod"/>
            </a:pP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 K. Vayadande, A. Bhat, P. Bachhav, A. Bhoyar, Z. Charoliya, and A. Chavan, "ai-powered legal documentation assistant," in </a:t>
            </a:r>
            <a:r>
              <a:rPr lang="en-US" i="1" cap="none" dirty="0">
                <a:latin typeface="Times New Roman" pitchFamily="18" charset="0"/>
                <a:cs typeface="Times New Roman" pitchFamily="18" charset="0"/>
              </a:rPr>
              <a:t>proc. 2024 4th int. Conf. On pervasive computing and social networking (ICPCSN)</a:t>
            </a: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, 2024.</a:t>
            </a:r>
          </a:p>
          <a:p>
            <a:pPr marL="457200" indent="-457200">
              <a:buFont typeface="+mj-lt"/>
              <a:buAutoNum type="arabicPeriod"/>
            </a:pP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 D. Singh, A. Tomer, T. K. Kaushik, R. Singh, and S. Kumar, "the potential applications of artificial intelligence and machine learning in India's legal system," in </a:t>
            </a:r>
            <a:r>
              <a:rPr lang="en-US" i="1" cap="none" dirty="0">
                <a:latin typeface="Times New Roman" pitchFamily="18" charset="0"/>
                <a:cs typeface="Times New Roman" pitchFamily="18" charset="0"/>
              </a:rPr>
              <a:t>proc. 2024 int. Conf.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H. Li, Q. Ai, J. Chen, Q. Dong, Y. Wu, Y. Liu, C. Chen, and Q. Tian, “SAILER: structure-aware pre-trained language model for legal case retrieval,” </a:t>
            </a:r>
            <a:r>
              <a:rPr lang="en-US" i="1" cap="none" dirty="0">
                <a:latin typeface="Times New Roman" pitchFamily="18" charset="0"/>
                <a:cs typeface="Times New Roman" pitchFamily="18" charset="0"/>
              </a:rPr>
              <a:t>arxiv preprint</a:t>
            </a: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, arxiv:2304.11370, apr. 2023. [Online]. Available: </a:t>
            </a:r>
            <a:r>
              <a:rPr lang="en-US" cap="none" dirty="0">
                <a:latin typeface="Times New Roman" pitchFamily="18" charset="0"/>
                <a:cs typeface="Times New Roman" pitchFamily="18" charset="0"/>
                <a:hlinkClick r:id="rId2"/>
              </a:rPr>
              <a:t>https://arxiv.Org/abs/2304.11370</a:t>
            </a:r>
            <a:endParaRPr lang="en-US" cap="none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J. Cui, M. Ning, Z. Li, B. Chen, Y. Yan, H. Li, B. Ling, Y. Tian, and L. Yuan, “chatlaw: A multi-agent collaborative legal assistant with knowledge graph enhanced mixture-of-experts large language model,” </a:t>
            </a:r>
            <a:r>
              <a:rPr lang="en-US" i="1" cap="none" dirty="0">
                <a:latin typeface="Times New Roman" pitchFamily="18" charset="0"/>
                <a:cs typeface="Times New Roman" pitchFamily="18" charset="0"/>
              </a:rPr>
              <a:t>arxiv preprint</a:t>
            </a:r>
            <a:r>
              <a:rPr lang="en-US" cap="none" dirty="0">
                <a:latin typeface="Times New Roman" pitchFamily="18" charset="0"/>
                <a:cs typeface="Times New Roman" pitchFamily="18" charset="0"/>
              </a:rPr>
              <a:t>, arxiv:2306.16092, June 2023. [Online]. Available: </a:t>
            </a:r>
            <a:r>
              <a:rPr lang="en-US" cap="none" dirty="0">
                <a:latin typeface="Times New Roman" pitchFamily="18" charset="0"/>
                <a:cs typeface="Times New Roman" pitchFamily="18" charset="0"/>
                <a:hlinkClick r:id="rId3"/>
              </a:rPr>
              <a:t>https://arxiv.Org/abs/2306.16092</a:t>
            </a:r>
            <a:endParaRPr lang="en-US" cap="none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en-US" cap="none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855332" y="6320597"/>
            <a:ext cx="764215" cy="365125"/>
          </a:xfrm>
        </p:spPr>
        <p:txBody>
          <a:bodyPr/>
          <a:lstStyle/>
          <a:p>
            <a:pPr algn="ctr"/>
            <a:fld id="{E8200808-2795-4AD7-910F-FE33AA07CB5C}" type="slidenum">
              <a:rPr lang="en-IN" sz="2000" smtClean="0"/>
              <a:pPr algn="ctr"/>
              <a:t>26</a:t>
            </a:fld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604571691"/>
      </p:ext>
    </p:extLst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325" y="2104417"/>
            <a:ext cx="10364451" cy="1596177"/>
          </a:xfrm>
        </p:spPr>
        <p:txBody>
          <a:bodyPr>
            <a:normAutofit/>
          </a:bodyPr>
          <a:lstStyle/>
          <a:p>
            <a:r>
              <a:rPr lang="en-US" sz="80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00808-2795-4AD7-910F-FE33AA07CB5C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060795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1650</TotalTime>
  <Words>2223</Words>
  <Application>Microsoft Office PowerPoint</Application>
  <PresentationFormat>Widescreen</PresentationFormat>
  <Paragraphs>322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Poppins Medium Bold</vt:lpstr>
      <vt:lpstr>Times New Roman</vt:lpstr>
      <vt:lpstr>Tw Cen MT</vt:lpstr>
      <vt:lpstr>Wingdings</vt:lpstr>
      <vt:lpstr>Droplet</vt:lpstr>
      <vt:lpstr>PowerPoint Presentation</vt:lpstr>
      <vt:lpstr>ABSTRACT</vt:lpstr>
      <vt:lpstr>PowerPoint Presentation</vt:lpstr>
      <vt:lpstr>PowerPoint Presentation</vt:lpstr>
      <vt:lpstr>INTRODUCTION </vt:lpstr>
      <vt:lpstr>Overview</vt:lpstr>
      <vt:lpstr>   slogans</vt:lpstr>
      <vt:lpstr>Applications &amp; Benchmark Datasets </vt:lpstr>
      <vt:lpstr>Technology used</vt:lpstr>
      <vt:lpstr>Existing Systems &amp; Their Limitations</vt:lpstr>
      <vt:lpstr>PROBLEM  STATEMENT </vt:lpstr>
      <vt:lpstr>Objectives </vt:lpstr>
      <vt:lpstr>Literature Review </vt:lpstr>
      <vt:lpstr>PowerPoint Presentation</vt:lpstr>
      <vt:lpstr>PowerPoint Presentation</vt:lpstr>
      <vt:lpstr>Existing work 1</vt:lpstr>
      <vt:lpstr>Methodology USED </vt:lpstr>
      <vt:lpstr>PowerPoint Presentation</vt:lpstr>
      <vt:lpstr>System Architecture</vt:lpstr>
      <vt:lpstr>ADVANTAGES </vt:lpstr>
      <vt:lpstr>flow chart</vt:lpstr>
      <vt:lpstr>Legal Document Assistant — Core Algorithm</vt:lpstr>
      <vt:lpstr>PowerPoint Presentation</vt:lpstr>
      <vt:lpstr>PowerPoint Presentation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chandana chandu</dc:creator>
  <cp:lastModifiedBy>chandana chandu</cp:lastModifiedBy>
  <cp:revision>91</cp:revision>
  <dcterms:created xsi:type="dcterms:W3CDTF">2025-04-20T13:13:07Z</dcterms:created>
  <dcterms:modified xsi:type="dcterms:W3CDTF">2025-09-25T01:52:30Z</dcterms:modified>
</cp:coreProperties>
</file>